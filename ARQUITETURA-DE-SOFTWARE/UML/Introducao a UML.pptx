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2" d="100"/>
          <a:sy n="72" d="100"/>
        </p:scale>
        <p:origin x="-109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B0FC5F19-0A9A-4BB3-A54D-EC3673E965B0}" type="datetimeFigureOut">
              <a:rPr lang="pt-BR" smtClean="0"/>
              <a:pPr/>
              <a:t>27/05/2013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AE064FE1-5CBF-4941-81E4-434FA2C25D8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1" name="Retângulo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tângulo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tângulo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tângulo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5F19-0A9A-4BB3-A54D-EC3673E965B0}" type="datetimeFigureOut">
              <a:rPr lang="pt-BR" smtClean="0"/>
              <a:pPr/>
              <a:t>27/05/2013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4FE1-5CBF-4941-81E4-434FA2C25D8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B0FC5F19-0A9A-4BB3-A54D-EC3673E965B0}" type="datetimeFigureOut">
              <a:rPr lang="pt-BR" smtClean="0"/>
              <a:pPr/>
              <a:t>27/05/2013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AE064FE1-5CBF-4941-81E4-434FA2C25D8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5F19-0A9A-4BB3-A54D-EC3673E965B0}" type="datetimeFigureOut">
              <a:rPr lang="pt-BR" smtClean="0"/>
              <a:pPr/>
              <a:t>27/05/2013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4FE1-5CBF-4941-81E4-434FA2C25D8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5F19-0A9A-4BB3-A54D-EC3673E965B0}" type="datetimeFigureOut">
              <a:rPr lang="pt-BR" smtClean="0"/>
              <a:pPr/>
              <a:t>27/05/2013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4FE1-5CBF-4941-81E4-434FA2C25D8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5F19-0A9A-4BB3-A54D-EC3673E965B0}" type="datetimeFigureOut">
              <a:rPr lang="pt-BR" smtClean="0"/>
              <a:pPr/>
              <a:t>27/05/2013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4FE1-5CBF-4941-81E4-434FA2C25D8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6" name="Triângulo isósceles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5F19-0A9A-4BB3-A54D-EC3673E965B0}" type="datetimeFigureOut">
              <a:rPr lang="pt-BR" smtClean="0"/>
              <a:pPr/>
              <a:t>27/05/2013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4FE1-5CBF-4941-81E4-434FA2C25D8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5" name="Conector reto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Triângulo isósceles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5F19-0A9A-4BB3-A54D-EC3673E965B0}" type="datetimeFigureOut">
              <a:rPr lang="pt-BR" smtClean="0"/>
              <a:pPr/>
              <a:t>27/05/2013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4FE1-5CBF-4941-81E4-434FA2C25D8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Conector reto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Triângulo isósceles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Conteúdo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5F19-0A9A-4BB3-A54D-EC3673E965B0}" type="datetimeFigureOut">
              <a:rPr lang="pt-BR" smtClean="0"/>
              <a:pPr/>
              <a:t>27/05/2013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4FE1-5CBF-4941-81E4-434FA2C25D8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Conector reto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Triângulo isósceles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5F19-0A9A-4BB3-A54D-EC3673E965B0}" type="datetimeFigureOut">
              <a:rPr lang="pt-BR" smtClean="0"/>
              <a:pPr/>
              <a:t>27/05/2013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4FE1-5CBF-4941-81E4-434FA2C25D8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5F19-0A9A-4BB3-A54D-EC3673E965B0}" type="datetimeFigureOut">
              <a:rPr lang="pt-BR" smtClean="0"/>
              <a:pPr/>
              <a:t>27/05/2013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064FE1-5CBF-4941-81E4-434FA2C25D8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7" name="Conector reto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Triângulo isósceles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Conector reto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0FC5F19-0A9A-4BB3-A54D-EC3673E965B0}" type="datetimeFigureOut">
              <a:rPr lang="pt-BR" smtClean="0"/>
              <a:pPr/>
              <a:t>27/05/2013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E064FE1-5CBF-4941-81E4-434FA2C25D80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28" name="Conector reto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Conector reto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Triângulo isósceles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Introdução à UML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pt-BR" dirty="0" smtClean="0"/>
              <a:t>Engenharia </a:t>
            </a:r>
            <a:r>
              <a:rPr lang="pt-BR" dirty="0" smtClean="0"/>
              <a:t>de Software</a:t>
            </a:r>
          </a:p>
          <a:p>
            <a:r>
              <a:rPr lang="pt-BR" dirty="0" smtClean="0"/>
              <a:t>Versão 1.0 – </a:t>
            </a:r>
            <a:r>
              <a:rPr lang="pt-BR" dirty="0" smtClean="0"/>
              <a:t>01/05/2013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Agenda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Era uma vez ... (História).</a:t>
            </a:r>
          </a:p>
          <a:p>
            <a:endParaRPr lang="pt-BR"/>
          </a:p>
          <a:p>
            <a:r>
              <a:rPr lang="pt-BR"/>
              <a:t>Modelagem.</a:t>
            </a:r>
          </a:p>
          <a:p>
            <a:endParaRPr lang="pt-BR"/>
          </a:p>
          <a:p>
            <a:r>
              <a:rPr lang="pt-BR"/>
              <a:t>UML.</a:t>
            </a:r>
          </a:p>
          <a:p>
            <a:endParaRPr lang="pt-BR"/>
          </a:p>
          <a:p>
            <a:r>
              <a:rPr lang="pt-BR"/>
              <a:t>Arquitetura da UML.</a:t>
            </a:r>
          </a:p>
        </p:txBody>
      </p:sp>
      <p:pic>
        <p:nvPicPr>
          <p:cNvPr id="9220" name="Picture 4" descr="C:\Arquivos de programas\Arquivos comuns\Microsoft Shared\Clipart\cagcat50\BD07311_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1200" y="2667000"/>
            <a:ext cx="3062288" cy="33210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Era uma vez ... (História)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sz="quarter" idx="1"/>
          </p:nvPr>
        </p:nvSpPr>
        <p:spPr>
          <a:xfrm>
            <a:off x="1182688" y="2017713"/>
            <a:ext cx="3922712" cy="4114800"/>
          </a:xfrm>
        </p:spPr>
        <p:txBody>
          <a:bodyPr/>
          <a:lstStyle/>
          <a:p>
            <a:r>
              <a:rPr lang="pt-BR" sz="2800"/>
              <a:t>Linguagens orientadas a objetos: décadas de 70 e 80.</a:t>
            </a:r>
          </a:p>
          <a:p>
            <a:r>
              <a:rPr lang="pt-BR" sz="2800"/>
              <a:t>Métodos orientados a objetos: 1a. metade da década de 90.</a:t>
            </a:r>
          </a:p>
          <a:p>
            <a:r>
              <a:rPr lang="pt-BR" sz="2800"/>
              <a:t>Mais de 50 métodos existentes em 1994.</a:t>
            </a:r>
          </a:p>
        </p:txBody>
      </p:sp>
      <p:graphicFrame>
        <p:nvGraphicFramePr>
          <p:cNvPr id="10244" name="Object 4"/>
          <p:cNvGraphicFramePr>
            <a:graphicFrameLocks noChangeAspect="1"/>
          </p:cNvGraphicFramePr>
          <p:nvPr/>
        </p:nvGraphicFramePr>
        <p:xfrm>
          <a:off x="5181600" y="2057400"/>
          <a:ext cx="3630613" cy="4114800"/>
        </p:xfrm>
        <a:graphic>
          <a:graphicData uri="http://schemas.openxmlformats.org/presentationml/2006/ole">
            <p:oleObj spid="_x0000_s1026" name="Imagem de bitmap" r:id="rId3" imgW="3428571" imgH="3885714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Era uma vez .... (História)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sz="quarter" idx="1"/>
          </p:nvPr>
        </p:nvSpPr>
        <p:spPr>
          <a:xfrm>
            <a:off x="1182688" y="2017713"/>
            <a:ext cx="4151312" cy="41148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pt-BR"/>
              <a:t>Metodologias:</a:t>
            </a:r>
          </a:p>
          <a:p>
            <a:pPr lvl="1">
              <a:lnSpc>
                <a:spcPct val="90000"/>
              </a:lnSpc>
            </a:pPr>
            <a:r>
              <a:rPr lang="pt-BR"/>
              <a:t>Booch (Booch);</a:t>
            </a:r>
          </a:p>
          <a:p>
            <a:pPr lvl="1">
              <a:lnSpc>
                <a:spcPct val="90000"/>
              </a:lnSpc>
            </a:pPr>
            <a:r>
              <a:rPr lang="pt-BR"/>
              <a:t>OOSE: Object-Oriented Software Engineering (Jacobson);</a:t>
            </a:r>
          </a:p>
          <a:p>
            <a:pPr lvl="1">
              <a:lnSpc>
                <a:spcPct val="90000"/>
              </a:lnSpc>
            </a:pPr>
            <a:r>
              <a:rPr lang="pt-BR"/>
              <a:t>OMT: Object Modeling Technique (Rumbaugh);</a:t>
            </a:r>
          </a:p>
        </p:txBody>
      </p:sp>
      <p:graphicFrame>
        <p:nvGraphicFramePr>
          <p:cNvPr id="1028" name="Object 4"/>
          <p:cNvGraphicFramePr>
            <a:graphicFrameLocks noChangeAspect="1"/>
          </p:cNvGraphicFramePr>
          <p:nvPr/>
        </p:nvGraphicFramePr>
        <p:xfrm>
          <a:off x="5410200" y="2133600"/>
          <a:ext cx="3429000" cy="3886200"/>
        </p:xfrm>
        <a:graphic>
          <a:graphicData uri="http://schemas.openxmlformats.org/presentationml/2006/ole">
            <p:oleObj spid="_x0000_s2050" name="Imagem de bitmap" r:id="rId3" imgW="3428571" imgH="3885714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7" name="Rectangle 5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Era uma vez ...(História)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/>
              <a:t>Unificação:</a:t>
            </a:r>
          </a:p>
          <a:p>
            <a:pPr lvl="1">
              <a:lnSpc>
                <a:spcPct val="90000"/>
              </a:lnSpc>
            </a:pPr>
            <a:r>
              <a:rPr lang="pt-BR"/>
              <a:t>Fazer a modelagem de sistemas, do conceito ao artefato executável, com a utilização de técnicas orientadas a objetos.</a:t>
            </a:r>
          </a:p>
          <a:p>
            <a:pPr lvl="1">
              <a:lnSpc>
                <a:spcPct val="90000"/>
              </a:lnSpc>
            </a:pPr>
            <a:r>
              <a:rPr lang="pt-BR"/>
              <a:t>Incluir questões de escala, inerentes a sistemas complexos e de tarefas críticas.</a:t>
            </a:r>
          </a:p>
          <a:p>
            <a:pPr lvl="1">
              <a:lnSpc>
                <a:spcPct val="90000"/>
              </a:lnSpc>
            </a:pPr>
            <a:r>
              <a:rPr lang="pt-BR"/>
              <a:t>Criar uma linguagem de modelagem a ser utilizada por seres humanos e por máquinas.</a:t>
            </a:r>
          </a:p>
        </p:txBody>
      </p:sp>
      <p:graphicFrame>
        <p:nvGraphicFramePr>
          <p:cNvPr id="13316" name="Object 4"/>
          <p:cNvGraphicFramePr>
            <a:graphicFrameLocks noChangeAspect="1"/>
          </p:cNvGraphicFramePr>
          <p:nvPr/>
        </p:nvGraphicFramePr>
        <p:xfrm>
          <a:off x="6300192" y="3611004"/>
          <a:ext cx="2404988" cy="2726916"/>
        </p:xfrm>
        <a:graphic>
          <a:graphicData uri="http://schemas.openxmlformats.org/presentationml/2006/ole">
            <p:oleObj spid="_x0000_s3074" name="Imagem de bitmap" r:id="rId3" imgW="3428571" imgH="3885714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Era uma vez ...(História)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800"/>
              <a:t>Unificação:</a:t>
            </a:r>
          </a:p>
          <a:p>
            <a:pPr lvl="1"/>
            <a:r>
              <a:rPr lang="pt-BR" sz="2400"/>
              <a:t>1994: Rumbaugh se une a Booch na Rational Software e iniciam o processo de unificação dos métodos Booch e OMT.</a:t>
            </a:r>
          </a:p>
          <a:p>
            <a:pPr lvl="1"/>
            <a:r>
              <a:rPr lang="pt-BR" sz="2400"/>
              <a:t>1995: Esboço da versão 0.8 do chamado Método Unificado.</a:t>
            </a:r>
          </a:p>
          <a:p>
            <a:pPr lvl="1"/>
            <a:r>
              <a:rPr lang="pt-BR" sz="2400"/>
              <a:t>1995: Jacobson se associa a Rational e o escopo do projeto inclui agora o método OOSE.</a:t>
            </a:r>
          </a:p>
          <a:p>
            <a:pPr lvl="1"/>
            <a:r>
              <a:rPr lang="pt-BR" sz="2400"/>
              <a:t>1996: Lançados os documentos da versão 0.9 da UML.</a:t>
            </a:r>
          </a:p>
        </p:txBody>
      </p:sp>
      <p:graphicFrame>
        <p:nvGraphicFramePr>
          <p:cNvPr id="14340" name="Object 4"/>
          <p:cNvGraphicFramePr>
            <a:graphicFrameLocks noChangeAspect="1"/>
          </p:cNvGraphicFramePr>
          <p:nvPr/>
        </p:nvGraphicFramePr>
        <p:xfrm>
          <a:off x="7164288" y="4509120"/>
          <a:ext cx="1612900" cy="1828800"/>
        </p:xfrm>
        <a:graphic>
          <a:graphicData uri="http://schemas.openxmlformats.org/presentationml/2006/ole">
            <p:oleObj spid="_x0000_s4098" name="Imagem de bitmap" r:id="rId3" imgW="3428571" imgH="3885714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Era uma vez ...(História)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/>
              <a:t>Unificação:</a:t>
            </a:r>
          </a:p>
          <a:p>
            <a:pPr lvl="1">
              <a:lnSpc>
                <a:spcPct val="90000"/>
              </a:lnSpc>
            </a:pPr>
            <a:r>
              <a:rPr lang="pt-BR"/>
              <a:t>1997: A UML versão 1.0 é adotada pelo OMG (Object Management Group) como linguagem-padrão para modelagem.</a:t>
            </a:r>
          </a:p>
          <a:p>
            <a:pPr lvl="1">
              <a:lnSpc>
                <a:spcPct val="90000"/>
              </a:lnSpc>
            </a:pPr>
            <a:r>
              <a:rPr lang="pt-BR"/>
              <a:t>1997: UML versão 1.1</a:t>
            </a:r>
          </a:p>
          <a:p>
            <a:pPr lvl="1">
              <a:lnSpc>
                <a:spcPct val="90000"/>
              </a:lnSpc>
            </a:pPr>
            <a:r>
              <a:rPr lang="pt-BR"/>
              <a:t>1998: UML 1.2 assumida pelo RTF (Revision Task Force).</a:t>
            </a:r>
          </a:p>
          <a:p>
            <a:pPr lvl="1">
              <a:lnSpc>
                <a:spcPct val="90000"/>
              </a:lnSpc>
            </a:pPr>
            <a:r>
              <a:rPr lang="pt-BR"/>
              <a:t>1998: UML 1.3 lançada pelo RTF.</a:t>
            </a:r>
          </a:p>
          <a:p>
            <a:pPr lvl="1">
              <a:lnSpc>
                <a:spcPct val="90000"/>
              </a:lnSpc>
            </a:pPr>
            <a:r>
              <a:rPr lang="pt-BR"/>
              <a:t>Atualmente: UML 2.0.</a:t>
            </a:r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6021161" y="3212976"/>
          <a:ext cx="2756027" cy="3124944"/>
        </p:xfrm>
        <a:graphic>
          <a:graphicData uri="http://schemas.openxmlformats.org/presentationml/2006/ole">
            <p:oleObj spid="_x0000_s5122" name="Imagem de bitmap" r:id="rId3" imgW="3428571" imgH="3885714" progId="PBrush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Modelagem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pt-BR"/>
              <a:t>“Uma empresa de software bem-sucedida é aquela que fornece software de qualidade e capaz de atender as necessidades dos usuários.”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533400" y="4452938"/>
            <a:ext cx="8153400" cy="519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/>
            <a:r>
              <a:rPr lang="pt-BR" sz="2800"/>
              <a:t>Bom Software X Documentos Bonitos</a:t>
            </a: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auto">
          <a:xfrm>
            <a:off x="1219200" y="5257800"/>
            <a:ext cx="2819400" cy="838200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pt-BR" sz="2800"/>
              <a:t>Fundamental</a:t>
            </a: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auto">
          <a:xfrm>
            <a:off x="4572000" y="5257800"/>
            <a:ext cx="2743200" cy="838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pt-BR" sz="2800"/>
              <a:t>Secundário, </a:t>
            </a:r>
          </a:p>
          <a:p>
            <a:pPr algn="ctr"/>
            <a:r>
              <a:rPr lang="pt-BR" sz="2800"/>
              <a:t>Irrelevante</a:t>
            </a:r>
          </a:p>
        </p:txBody>
      </p:sp>
      <p:sp>
        <p:nvSpPr>
          <p:cNvPr id="24584" name="Line 8"/>
          <p:cNvSpPr>
            <a:spLocks noChangeShapeType="1"/>
          </p:cNvSpPr>
          <p:nvPr/>
        </p:nvSpPr>
        <p:spPr bwMode="auto">
          <a:xfrm flipV="1">
            <a:off x="26670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24585" name="Line 9"/>
          <p:cNvSpPr>
            <a:spLocks noChangeShapeType="1"/>
          </p:cNvSpPr>
          <p:nvPr/>
        </p:nvSpPr>
        <p:spPr bwMode="auto">
          <a:xfrm flipV="1">
            <a:off x="5867400" y="4953000"/>
            <a:ext cx="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Modelagem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Construindo uma casa de cachorro....</a:t>
            </a:r>
          </a:p>
          <a:p>
            <a:pPr>
              <a:buFont typeface="Wingdings" pitchFamily="2" charset="2"/>
              <a:buNone/>
            </a:pPr>
            <a:endParaRPr lang="pt-BR"/>
          </a:p>
        </p:txBody>
      </p:sp>
      <p:sp>
        <p:nvSpPr>
          <p:cNvPr id="11269" name="AutoShape 5" descr="http://es.geocities.com/gijonfotos/casa_quiti2.JPG"/>
          <p:cNvSpPr>
            <a:spLocks noChangeAspect="1" noChangeArrowheads="1"/>
          </p:cNvSpPr>
          <p:nvPr/>
        </p:nvSpPr>
        <p:spPr bwMode="auto">
          <a:xfrm>
            <a:off x="4424363" y="3281363"/>
            <a:ext cx="296862" cy="296862"/>
          </a:xfrm>
          <a:prstGeom prst="rect">
            <a:avLst/>
          </a:prstGeom>
          <a:noFill/>
        </p:spPr>
        <p:txBody>
          <a:bodyPr/>
          <a:lstStyle/>
          <a:p>
            <a:endParaRPr lang="pt-BR"/>
          </a:p>
        </p:txBody>
      </p:sp>
      <p:pic>
        <p:nvPicPr>
          <p:cNvPr id="11270" name="Picture 6" descr="C:\Users\Fernando.Miranda\Uniso\C.Comp\Semana C.Comp\2004\casa_quiti2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81250" y="2590800"/>
            <a:ext cx="4381500" cy="32861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Modelagem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Construindo uma casa ....</a:t>
            </a:r>
          </a:p>
        </p:txBody>
      </p:sp>
      <p:pic>
        <p:nvPicPr>
          <p:cNvPr id="16388" name="Picture 4" descr="C:\Users\Fernando.Miranda\Uniso\C.Comp\Semana C.Comp\2004\casa%20toda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3450" y="2667000"/>
            <a:ext cx="4737100" cy="3556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Modelagem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Construindo um prédio ....</a:t>
            </a:r>
          </a:p>
        </p:txBody>
      </p:sp>
      <p:pic>
        <p:nvPicPr>
          <p:cNvPr id="17412" name="Picture 4" descr="C:\Users\Fernando.Miranda\Uniso\C.Comp\Semana C.Comp\2004\petronas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52800" y="2743200"/>
            <a:ext cx="2438400" cy="3581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Modelagem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 algn="ctr">
              <a:buFont typeface="Wingdings" pitchFamily="2" charset="2"/>
              <a:buNone/>
            </a:pPr>
            <a:r>
              <a:rPr lang="pt-BR"/>
              <a:t>“Curiosamente, muitas empresas de desenvolvimento de software começam querendo construir prédios altos, como se estivessem fazendo uma casinha de cachorro”. (Booch)</a:t>
            </a:r>
          </a:p>
        </p:txBody>
      </p:sp>
      <p:pic>
        <p:nvPicPr>
          <p:cNvPr id="18436" name="Picture 4" descr="C:\Arquivos de programas\Arquivos comuns\Microsoft Shared\Clipart\cagcat50\PE01496_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010400" y="4419600"/>
            <a:ext cx="1703388" cy="2020888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Modelagem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/>
              <a:t>O que é um modelo?</a:t>
            </a:r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pt-BR"/>
              <a:t>“Um modelo é uma simplificação da realidade”.</a:t>
            </a:r>
          </a:p>
          <a:p>
            <a:pPr>
              <a:lnSpc>
                <a:spcPct val="90000"/>
              </a:lnSpc>
            </a:pPr>
            <a:endParaRPr lang="pt-BR"/>
          </a:p>
          <a:p>
            <a:pPr>
              <a:lnSpc>
                <a:spcPct val="90000"/>
              </a:lnSpc>
            </a:pPr>
            <a:r>
              <a:rPr lang="pt-BR"/>
              <a:t>Por que fazer a modelagem?</a:t>
            </a:r>
          </a:p>
          <a:p>
            <a:pPr algn="ctr">
              <a:lnSpc>
                <a:spcPct val="90000"/>
              </a:lnSpc>
              <a:buFont typeface="Wingdings" pitchFamily="2" charset="2"/>
              <a:buNone/>
            </a:pPr>
            <a:r>
              <a:rPr lang="pt-BR"/>
              <a:t>“Construímos modelos para compreender melhor o sistema que estamos desenvolvendo”.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Modelagem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800"/>
              <a:t>Os modelos ajudam a visualizar o sistema como ele é ou como desejamos que ele seja.</a:t>
            </a:r>
          </a:p>
          <a:p>
            <a:r>
              <a:rPr lang="pt-BR" sz="2800"/>
              <a:t>Os modelos permitem especificar a estrutura ou o comportamento do sistema.</a:t>
            </a:r>
          </a:p>
          <a:p>
            <a:r>
              <a:rPr lang="pt-BR" sz="2800"/>
              <a:t>Os modelos proporcionam um guia para a construção do sistema.</a:t>
            </a:r>
          </a:p>
          <a:p>
            <a:r>
              <a:rPr lang="pt-BR" sz="2800"/>
              <a:t>Os modelos documentam as decisões tomadas.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Modelagem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sz="2500"/>
              <a:t>A escolha dos modelos a serem criados tem profunda influência sobre a maneira como um determinado problema é atacado e como uma solução é definida.</a:t>
            </a:r>
          </a:p>
          <a:p>
            <a:pPr>
              <a:lnSpc>
                <a:spcPct val="90000"/>
              </a:lnSpc>
            </a:pPr>
            <a:r>
              <a:rPr lang="pt-BR" sz="2500"/>
              <a:t>Cada modelo poderá ser expresso em diferentes níveis de precisão.</a:t>
            </a:r>
          </a:p>
          <a:p>
            <a:pPr>
              <a:lnSpc>
                <a:spcPct val="90000"/>
              </a:lnSpc>
            </a:pPr>
            <a:r>
              <a:rPr lang="pt-BR" sz="2500"/>
              <a:t>Os melhores modelos estão relacionados à realidade.</a:t>
            </a:r>
          </a:p>
          <a:p>
            <a:pPr>
              <a:lnSpc>
                <a:spcPct val="90000"/>
              </a:lnSpc>
            </a:pPr>
            <a:r>
              <a:rPr lang="pt-BR" sz="2500"/>
              <a:t>Nenhum modelo único é suficiente. Qualquer sistema não-trivial será melhor investigado por meio de um pequeno conjunto de modelos quase independentes.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UML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/>
              <a:t>A UML (Unified Modeling Language) é uma linguagem-padrão para a elaboração da estrutura de projetos de software.</a:t>
            </a:r>
          </a:p>
          <a:p>
            <a:pPr>
              <a:lnSpc>
                <a:spcPct val="90000"/>
              </a:lnSpc>
            </a:pPr>
            <a:r>
              <a:rPr lang="pt-BR"/>
              <a:t>É uma parte de um método para o desenvolvimento de software.</a:t>
            </a:r>
          </a:p>
          <a:p>
            <a:pPr>
              <a:lnSpc>
                <a:spcPct val="90000"/>
              </a:lnSpc>
            </a:pPr>
            <a:r>
              <a:rPr lang="pt-BR"/>
              <a:t>É independente do método de desenvolvimento de software.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UML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800"/>
              <a:t>É uma linguagem:</a:t>
            </a:r>
          </a:p>
          <a:p>
            <a:pPr lvl="1"/>
            <a:r>
              <a:rPr lang="pt-BR" sz="2400"/>
              <a:t>Vocabulário.</a:t>
            </a:r>
          </a:p>
          <a:p>
            <a:pPr lvl="1"/>
            <a:r>
              <a:rPr lang="pt-BR" sz="2400"/>
              <a:t>Sintaxe.</a:t>
            </a:r>
          </a:p>
          <a:p>
            <a:pPr lvl="1"/>
            <a:r>
              <a:rPr lang="pt-BR" sz="2400"/>
              <a:t>Semântica.</a:t>
            </a:r>
          </a:p>
          <a:p>
            <a:r>
              <a:rPr lang="pt-BR" sz="2800"/>
              <a:t>Objetivos:</a:t>
            </a:r>
          </a:p>
          <a:p>
            <a:pPr lvl="1"/>
            <a:r>
              <a:rPr lang="pt-BR" sz="2400"/>
              <a:t>Visualizar</a:t>
            </a:r>
          </a:p>
          <a:p>
            <a:pPr lvl="1"/>
            <a:r>
              <a:rPr lang="pt-BR" sz="2400"/>
              <a:t>Especificar</a:t>
            </a:r>
          </a:p>
          <a:p>
            <a:pPr lvl="1"/>
            <a:r>
              <a:rPr lang="pt-BR" sz="2400"/>
              <a:t>Construir</a:t>
            </a:r>
          </a:p>
          <a:p>
            <a:pPr lvl="1"/>
            <a:r>
              <a:rPr lang="pt-BR" sz="2400"/>
              <a:t>Documentar</a:t>
            </a:r>
          </a:p>
          <a:p>
            <a:pPr lvl="1"/>
            <a:endParaRPr lang="pt-BR" sz="2400"/>
          </a:p>
        </p:txBody>
      </p:sp>
      <p:sp>
        <p:nvSpPr>
          <p:cNvPr id="23556" name="Rectangle 4"/>
          <p:cNvSpPr>
            <a:spLocks noChangeArrowheads="1"/>
          </p:cNvSpPr>
          <p:nvPr/>
        </p:nvSpPr>
        <p:spPr bwMode="auto">
          <a:xfrm>
            <a:off x="4139952" y="2060848"/>
            <a:ext cx="3276600" cy="9144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pt-BR"/>
              <a:t>Geradores Automáticos</a:t>
            </a:r>
          </a:p>
        </p:txBody>
      </p:sp>
      <p:sp>
        <p:nvSpPr>
          <p:cNvPr id="23557" name="Line 5"/>
          <p:cNvSpPr>
            <a:spLocks noChangeShapeType="1"/>
          </p:cNvSpPr>
          <p:nvPr/>
        </p:nvSpPr>
        <p:spPr bwMode="auto">
          <a:xfrm>
            <a:off x="2692152" y="1908448"/>
            <a:ext cx="1447800" cy="609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23558" name="Line 6"/>
          <p:cNvSpPr>
            <a:spLocks noChangeShapeType="1"/>
          </p:cNvSpPr>
          <p:nvPr/>
        </p:nvSpPr>
        <p:spPr bwMode="auto">
          <a:xfrm>
            <a:off x="2082552" y="2289448"/>
            <a:ext cx="2057400" cy="2286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pt-BR"/>
          </a:p>
        </p:txBody>
      </p:sp>
      <p:sp>
        <p:nvSpPr>
          <p:cNvPr id="23559" name="Line 7"/>
          <p:cNvSpPr>
            <a:spLocks noChangeShapeType="1"/>
          </p:cNvSpPr>
          <p:nvPr/>
        </p:nvSpPr>
        <p:spPr bwMode="auto">
          <a:xfrm flipV="1">
            <a:off x="2463552" y="2518048"/>
            <a:ext cx="1676400" cy="304800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 type="triangle" w="med" len="med"/>
          </a:ln>
          <a:effectLst/>
        </p:spPr>
        <p:txBody>
          <a:bodyPr wrap="none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UML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É uma linguagem para visualização:</a:t>
            </a:r>
          </a:p>
          <a:p>
            <a:pPr lvl="1"/>
            <a:r>
              <a:rPr lang="pt-BR"/>
              <a:t>Um figura diz mais que mil palavras ....</a:t>
            </a:r>
          </a:p>
          <a:p>
            <a:pPr lvl="1"/>
            <a:endParaRPr lang="pt-BR"/>
          </a:p>
          <a:p>
            <a:pPr lvl="1">
              <a:buFont typeface="Wingdings" pitchFamily="2" charset="2"/>
              <a:buNone/>
            </a:pPr>
            <a:endParaRPr lang="pt-BR"/>
          </a:p>
        </p:txBody>
      </p:sp>
      <p:sp>
        <p:nvSpPr>
          <p:cNvPr id="25604" name="Rectangle 4"/>
          <p:cNvSpPr>
            <a:spLocks noChangeArrowheads="1"/>
          </p:cNvSpPr>
          <p:nvPr/>
        </p:nvSpPr>
        <p:spPr bwMode="auto">
          <a:xfrm>
            <a:off x="1600200" y="3810000"/>
            <a:ext cx="1524000" cy="838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pt-BR"/>
              <a:t>Símbolos</a:t>
            </a:r>
          </a:p>
          <a:p>
            <a:pPr algn="ctr"/>
            <a:r>
              <a:rPr lang="pt-BR"/>
              <a:t>Gráficos</a:t>
            </a:r>
          </a:p>
        </p:txBody>
      </p:sp>
      <p:sp>
        <p:nvSpPr>
          <p:cNvPr id="25605" name="Rectangle 5"/>
          <p:cNvSpPr>
            <a:spLocks noChangeArrowheads="1"/>
          </p:cNvSpPr>
          <p:nvPr/>
        </p:nvSpPr>
        <p:spPr bwMode="auto">
          <a:xfrm>
            <a:off x="3810000" y="3810000"/>
            <a:ext cx="1524000" cy="838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pt-BR"/>
              <a:t>Semântica</a:t>
            </a:r>
          </a:p>
        </p:txBody>
      </p:sp>
      <p:sp>
        <p:nvSpPr>
          <p:cNvPr id="25606" name="Rectangle 6"/>
          <p:cNvSpPr>
            <a:spLocks noChangeArrowheads="1"/>
          </p:cNvSpPr>
          <p:nvPr/>
        </p:nvSpPr>
        <p:spPr bwMode="auto">
          <a:xfrm>
            <a:off x="5943600" y="3810000"/>
            <a:ext cx="1981200" cy="8382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pt-BR"/>
              <a:t>Ausência de</a:t>
            </a:r>
          </a:p>
          <a:p>
            <a:pPr algn="ctr"/>
            <a:r>
              <a:rPr lang="pt-BR"/>
              <a:t>Ambiguidade</a:t>
            </a:r>
          </a:p>
        </p:txBody>
      </p:sp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3200400" y="3962400"/>
            <a:ext cx="40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pt-BR"/>
              <a:t>+</a:t>
            </a:r>
          </a:p>
        </p:txBody>
      </p:sp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5410200" y="3886200"/>
            <a:ext cx="4064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pt-BR"/>
              <a:t>=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UML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/>
              <a:t>É uma linguagem para especificação:</a:t>
            </a:r>
          </a:p>
          <a:p>
            <a:pPr lvl="1"/>
            <a:r>
              <a:rPr lang="pt-BR"/>
              <a:t>Análise.</a:t>
            </a:r>
          </a:p>
          <a:p>
            <a:pPr lvl="1"/>
            <a:endParaRPr lang="pt-BR"/>
          </a:p>
          <a:p>
            <a:pPr lvl="1"/>
            <a:r>
              <a:rPr lang="pt-BR"/>
              <a:t>Projeto.</a:t>
            </a:r>
          </a:p>
          <a:p>
            <a:pPr lvl="1"/>
            <a:endParaRPr lang="pt-BR"/>
          </a:p>
          <a:p>
            <a:pPr lvl="1"/>
            <a:r>
              <a:rPr lang="pt-BR"/>
              <a:t>Implementação.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UML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800"/>
              <a:t>É uma linguagem para construção:</a:t>
            </a:r>
          </a:p>
          <a:p>
            <a:pPr lvl="1"/>
            <a:r>
              <a:rPr lang="pt-BR" sz="2400"/>
              <a:t>Os modelos da UML podem ser mapeados diretamente em linguagens de programação tais como Java, C++, etc.</a:t>
            </a:r>
          </a:p>
          <a:p>
            <a:pPr lvl="1"/>
            <a:r>
              <a:rPr lang="pt-BR" sz="2400"/>
              <a:t>É possível a geração de código a partir de modelos UML e a geração de modelos UML a partir de códigos.</a:t>
            </a:r>
          </a:p>
          <a:p>
            <a:pPr lvl="1"/>
            <a:r>
              <a:rPr lang="pt-BR" sz="2400"/>
              <a:t>Execução direta dos modelos, simulação de sistemas e a instrumentação de sistemas em execução.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UML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800"/>
              <a:t>É uma linguagem para documentação:</a:t>
            </a:r>
          </a:p>
          <a:p>
            <a:pPr lvl="1"/>
            <a:r>
              <a:rPr lang="pt-BR" sz="2400"/>
              <a:t>Requisitos.</a:t>
            </a:r>
          </a:p>
          <a:p>
            <a:pPr lvl="1"/>
            <a:r>
              <a:rPr lang="pt-BR" sz="2400"/>
              <a:t>Arquitetura.</a:t>
            </a:r>
          </a:p>
          <a:p>
            <a:pPr lvl="1"/>
            <a:r>
              <a:rPr lang="pt-BR" sz="2400"/>
              <a:t>Projeto.</a:t>
            </a:r>
          </a:p>
          <a:p>
            <a:pPr lvl="1"/>
            <a:r>
              <a:rPr lang="pt-BR" sz="2400"/>
              <a:t>Código-fonte.</a:t>
            </a:r>
          </a:p>
          <a:p>
            <a:pPr lvl="1"/>
            <a:r>
              <a:rPr lang="pt-BR" sz="2400"/>
              <a:t>Planos de projeto.</a:t>
            </a:r>
          </a:p>
          <a:p>
            <a:pPr lvl="1"/>
            <a:r>
              <a:rPr lang="pt-BR" sz="2400"/>
              <a:t>Testes.</a:t>
            </a:r>
          </a:p>
          <a:p>
            <a:pPr lvl="1"/>
            <a:r>
              <a:rPr lang="pt-BR" sz="2400"/>
              <a:t>Protótipos.</a:t>
            </a:r>
          </a:p>
          <a:p>
            <a:pPr lvl="1"/>
            <a:r>
              <a:rPr lang="pt-BR" sz="2400"/>
              <a:t>Versões.</a:t>
            </a:r>
          </a:p>
          <a:p>
            <a:pPr lvl="1"/>
            <a:endParaRPr lang="pt-BR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UML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sz="2800"/>
              <a:t>Onde a UML pode ser utilizada?</a:t>
            </a:r>
          </a:p>
          <a:p>
            <a:pPr lvl="1">
              <a:lnSpc>
                <a:spcPct val="90000"/>
              </a:lnSpc>
            </a:pPr>
            <a:r>
              <a:rPr lang="pt-BR" sz="2400"/>
              <a:t>Sistemas de informações corporativos.</a:t>
            </a:r>
          </a:p>
          <a:p>
            <a:pPr lvl="1">
              <a:lnSpc>
                <a:spcPct val="90000"/>
              </a:lnSpc>
            </a:pPr>
            <a:r>
              <a:rPr lang="pt-BR" sz="2400"/>
              <a:t>Serviços bancários e financeiros.</a:t>
            </a:r>
          </a:p>
          <a:p>
            <a:pPr lvl="1">
              <a:lnSpc>
                <a:spcPct val="90000"/>
              </a:lnSpc>
            </a:pPr>
            <a:r>
              <a:rPr lang="pt-BR" sz="2400"/>
              <a:t>Telecomunicações.</a:t>
            </a:r>
          </a:p>
          <a:p>
            <a:pPr lvl="1">
              <a:lnSpc>
                <a:spcPct val="90000"/>
              </a:lnSpc>
            </a:pPr>
            <a:r>
              <a:rPr lang="pt-BR" sz="2400"/>
              <a:t>Transportes.</a:t>
            </a:r>
          </a:p>
          <a:p>
            <a:pPr lvl="1">
              <a:lnSpc>
                <a:spcPct val="90000"/>
              </a:lnSpc>
            </a:pPr>
            <a:r>
              <a:rPr lang="pt-BR" sz="2400"/>
              <a:t>Defesa/Espaço aéreo.</a:t>
            </a:r>
          </a:p>
          <a:p>
            <a:pPr lvl="1">
              <a:lnSpc>
                <a:spcPct val="90000"/>
              </a:lnSpc>
            </a:pPr>
            <a:r>
              <a:rPr lang="pt-BR" sz="2400"/>
              <a:t>Vendas de varejo.</a:t>
            </a:r>
          </a:p>
          <a:p>
            <a:pPr lvl="1">
              <a:lnSpc>
                <a:spcPct val="90000"/>
              </a:lnSpc>
            </a:pPr>
            <a:r>
              <a:rPr lang="pt-BR" sz="2400"/>
              <a:t>Eletrônica médica.</a:t>
            </a:r>
          </a:p>
          <a:p>
            <a:pPr lvl="1">
              <a:lnSpc>
                <a:spcPct val="90000"/>
              </a:lnSpc>
            </a:pPr>
            <a:r>
              <a:rPr lang="pt-BR" sz="2400"/>
              <a:t>Científicos.</a:t>
            </a:r>
          </a:p>
          <a:p>
            <a:pPr lvl="1">
              <a:lnSpc>
                <a:spcPct val="90000"/>
              </a:lnSpc>
            </a:pPr>
            <a:r>
              <a:rPr lang="pt-BR" sz="2400"/>
              <a:t>Serviços distribuídos baseados em Web.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Arquitetura da UML</a:t>
            </a:r>
          </a:p>
        </p:txBody>
      </p:sp>
      <p:sp>
        <p:nvSpPr>
          <p:cNvPr id="30724" name="Rectangle 4"/>
          <p:cNvSpPr>
            <a:spLocks noChangeArrowheads="1"/>
          </p:cNvSpPr>
          <p:nvPr/>
        </p:nvSpPr>
        <p:spPr bwMode="auto">
          <a:xfrm>
            <a:off x="1524000" y="4191000"/>
            <a:ext cx="25908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pt-BR"/>
              <a:t>Visão do </a:t>
            </a:r>
          </a:p>
          <a:p>
            <a:pPr algn="ctr"/>
            <a:r>
              <a:rPr lang="pt-BR"/>
              <a:t>processo</a:t>
            </a:r>
          </a:p>
        </p:txBody>
      </p:sp>
      <p:sp>
        <p:nvSpPr>
          <p:cNvPr id="30725" name="Rectangle 5"/>
          <p:cNvSpPr>
            <a:spLocks noChangeArrowheads="1"/>
          </p:cNvSpPr>
          <p:nvPr/>
        </p:nvSpPr>
        <p:spPr bwMode="auto">
          <a:xfrm>
            <a:off x="5029200" y="2438400"/>
            <a:ext cx="25908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pt-BR"/>
              <a:t>Visão da </a:t>
            </a:r>
          </a:p>
          <a:p>
            <a:pPr algn="ctr"/>
            <a:r>
              <a:rPr lang="pt-BR"/>
              <a:t>implementação</a:t>
            </a:r>
          </a:p>
        </p:txBody>
      </p:sp>
      <p:sp>
        <p:nvSpPr>
          <p:cNvPr id="30726" name="Rectangle 6"/>
          <p:cNvSpPr>
            <a:spLocks noChangeArrowheads="1"/>
          </p:cNvSpPr>
          <p:nvPr/>
        </p:nvSpPr>
        <p:spPr bwMode="auto">
          <a:xfrm>
            <a:off x="5029200" y="4114800"/>
            <a:ext cx="25908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pt-BR"/>
              <a:t>Visão da </a:t>
            </a:r>
          </a:p>
          <a:p>
            <a:pPr algn="ctr"/>
            <a:r>
              <a:rPr lang="pt-BR"/>
              <a:t>implantação</a:t>
            </a:r>
          </a:p>
        </p:txBody>
      </p:sp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1524000" y="2438400"/>
            <a:ext cx="2590800" cy="990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pt-BR"/>
              <a:t>Visão do</a:t>
            </a:r>
          </a:p>
          <a:p>
            <a:pPr algn="ctr"/>
            <a:r>
              <a:rPr lang="pt-BR"/>
              <a:t>projeto</a:t>
            </a:r>
          </a:p>
        </p:txBody>
      </p:sp>
      <p:sp>
        <p:nvSpPr>
          <p:cNvPr id="30728" name="Oval 8"/>
          <p:cNvSpPr>
            <a:spLocks noChangeArrowheads="1"/>
          </p:cNvSpPr>
          <p:nvPr/>
        </p:nvSpPr>
        <p:spPr bwMode="auto">
          <a:xfrm>
            <a:off x="3657600" y="3124200"/>
            <a:ext cx="1828800" cy="1524000"/>
          </a:xfrm>
          <a:prstGeom prst="ellipse">
            <a:avLst/>
          </a:prstGeom>
          <a:solidFill>
            <a:schemeClr val="accent2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pt-BR"/>
              <a:t>Visão do</a:t>
            </a:r>
          </a:p>
          <a:p>
            <a:pPr algn="ctr"/>
            <a:r>
              <a:rPr lang="pt-BR"/>
              <a:t>Caso de Uso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Arquitetura UML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/>
              <a:t>Visão de Casos de Uso: Descreve o comportamento do sistema conforme é visto pelos usuários finais, analistas e pessoal de teste.</a:t>
            </a:r>
          </a:p>
          <a:p>
            <a:pPr>
              <a:lnSpc>
                <a:spcPct val="90000"/>
              </a:lnSpc>
            </a:pPr>
            <a:endParaRPr lang="pt-BR"/>
          </a:p>
          <a:p>
            <a:pPr>
              <a:lnSpc>
                <a:spcPct val="90000"/>
              </a:lnSpc>
            </a:pPr>
            <a:r>
              <a:rPr lang="pt-BR"/>
              <a:t>Visão do projeto: Classes, interfaces e colaborações que formam o vocabulário do problema e da solução.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Arquitetura UML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sz="2800"/>
              <a:t>Visão do processo: Threads e os processos. Cuida de mecanismos de concorrência e sincronismo. Foco nas questões de desempenho, escalabilidade e throughput.</a:t>
            </a:r>
          </a:p>
          <a:p>
            <a:r>
              <a:rPr lang="pt-BR" sz="2800"/>
              <a:t>Visão da implementação: Componentes e arquivos. Gerenciamento de configurações.</a:t>
            </a:r>
          </a:p>
          <a:p>
            <a:r>
              <a:rPr lang="pt-BR" sz="2800"/>
              <a:t>Visão da implantação: Topologia de hardware em que o sistema será executado.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UML (Partes)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/>
              <a:t>Itens:</a:t>
            </a:r>
          </a:p>
          <a:p>
            <a:pPr lvl="1">
              <a:lnSpc>
                <a:spcPct val="90000"/>
              </a:lnSpc>
            </a:pPr>
            <a:r>
              <a:rPr lang="pt-BR"/>
              <a:t>Estruturais.</a:t>
            </a:r>
          </a:p>
          <a:p>
            <a:pPr lvl="1">
              <a:lnSpc>
                <a:spcPct val="90000"/>
              </a:lnSpc>
            </a:pPr>
            <a:endParaRPr lang="pt-BR"/>
          </a:p>
          <a:p>
            <a:pPr lvl="1">
              <a:lnSpc>
                <a:spcPct val="90000"/>
              </a:lnSpc>
            </a:pPr>
            <a:r>
              <a:rPr lang="pt-BR"/>
              <a:t>Comportamentais.</a:t>
            </a:r>
          </a:p>
          <a:p>
            <a:pPr lvl="1">
              <a:lnSpc>
                <a:spcPct val="90000"/>
              </a:lnSpc>
            </a:pPr>
            <a:endParaRPr lang="pt-BR"/>
          </a:p>
          <a:p>
            <a:pPr lvl="1">
              <a:lnSpc>
                <a:spcPct val="90000"/>
              </a:lnSpc>
            </a:pPr>
            <a:r>
              <a:rPr lang="pt-BR"/>
              <a:t>Agrupamento.</a:t>
            </a:r>
          </a:p>
          <a:p>
            <a:pPr lvl="1">
              <a:lnSpc>
                <a:spcPct val="90000"/>
              </a:lnSpc>
            </a:pPr>
            <a:endParaRPr lang="pt-BR"/>
          </a:p>
          <a:p>
            <a:pPr lvl="1">
              <a:lnSpc>
                <a:spcPct val="90000"/>
              </a:lnSpc>
            </a:pPr>
            <a:r>
              <a:rPr lang="pt-BR"/>
              <a:t>Anotacionais.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UML (Partes)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/>
              <a:t>Itens Estruturais:</a:t>
            </a:r>
          </a:p>
          <a:p>
            <a:pPr lvl="1">
              <a:lnSpc>
                <a:spcPct val="90000"/>
              </a:lnSpc>
            </a:pPr>
            <a:r>
              <a:rPr lang="pt-BR"/>
              <a:t>Classe.</a:t>
            </a:r>
          </a:p>
          <a:p>
            <a:pPr lvl="1">
              <a:lnSpc>
                <a:spcPct val="90000"/>
              </a:lnSpc>
            </a:pPr>
            <a:r>
              <a:rPr lang="pt-BR"/>
              <a:t>Interface.</a:t>
            </a:r>
          </a:p>
          <a:p>
            <a:pPr lvl="1">
              <a:lnSpc>
                <a:spcPct val="90000"/>
              </a:lnSpc>
            </a:pPr>
            <a:r>
              <a:rPr lang="pt-BR"/>
              <a:t>Colaborações.</a:t>
            </a:r>
          </a:p>
          <a:p>
            <a:pPr lvl="1">
              <a:lnSpc>
                <a:spcPct val="90000"/>
              </a:lnSpc>
            </a:pPr>
            <a:r>
              <a:rPr lang="pt-BR"/>
              <a:t>Casos de uso.</a:t>
            </a:r>
          </a:p>
          <a:p>
            <a:pPr lvl="1">
              <a:lnSpc>
                <a:spcPct val="90000"/>
              </a:lnSpc>
            </a:pPr>
            <a:r>
              <a:rPr lang="pt-BR"/>
              <a:t>Classes ativas.</a:t>
            </a:r>
          </a:p>
          <a:p>
            <a:pPr lvl="1">
              <a:lnSpc>
                <a:spcPct val="90000"/>
              </a:lnSpc>
            </a:pPr>
            <a:r>
              <a:rPr lang="pt-BR"/>
              <a:t>Componentes.</a:t>
            </a:r>
          </a:p>
          <a:p>
            <a:pPr lvl="1">
              <a:lnSpc>
                <a:spcPct val="90000"/>
              </a:lnSpc>
            </a:pPr>
            <a:r>
              <a:rPr lang="pt-BR"/>
              <a:t>Nós.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UML (Partes)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 sz="2800"/>
              <a:t>Itens Comportamentais:</a:t>
            </a:r>
          </a:p>
          <a:p>
            <a:pPr lvl="1">
              <a:lnSpc>
                <a:spcPct val="90000"/>
              </a:lnSpc>
            </a:pPr>
            <a:r>
              <a:rPr lang="pt-BR" sz="2400"/>
              <a:t>Interação.</a:t>
            </a:r>
          </a:p>
          <a:p>
            <a:pPr lvl="1">
              <a:lnSpc>
                <a:spcPct val="90000"/>
              </a:lnSpc>
            </a:pPr>
            <a:r>
              <a:rPr lang="pt-BR" sz="2400"/>
              <a:t>Máquinas de estado.</a:t>
            </a:r>
          </a:p>
          <a:p>
            <a:pPr lvl="1">
              <a:lnSpc>
                <a:spcPct val="90000"/>
              </a:lnSpc>
            </a:pPr>
            <a:endParaRPr lang="pt-BR" sz="2400"/>
          </a:p>
          <a:p>
            <a:pPr>
              <a:lnSpc>
                <a:spcPct val="90000"/>
              </a:lnSpc>
            </a:pPr>
            <a:r>
              <a:rPr lang="pt-BR" sz="2800"/>
              <a:t>Itens de agrupamentos: </a:t>
            </a:r>
          </a:p>
          <a:p>
            <a:pPr lvl="1">
              <a:lnSpc>
                <a:spcPct val="90000"/>
              </a:lnSpc>
            </a:pPr>
            <a:r>
              <a:rPr lang="pt-BR" sz="2400"/>
              <a:t>Pacotes.</a:t>
            </a:r>
          </a:p>
          <a:p>
            <a:pPr lvl="1">
              <a:lnSpc>
                <a:spcPct val="90000"/>
              </a:lnSpc>
            </a:pPr>
            <a:endParaRPr lang="pt-BR" sz="2400"/>
          </a:p>
          <a:p>
            <a:pPr>
              <a:lnSpc>
                <a:spcPct val="90000"/>
              </a:lnSpc>
            </a:pPr>
            <a:r>
              <a:rPr lang="pt-BR" sz="2800"/>
              <a:t>Itens anotacionais:</a:t>
            </a:r>
          </a:p>
          <a:p>
            <a:pPr lvl="1">
              <a:lnSpc>
                <a:spcPct val="90000"/>
              </a:lnSpc>
            </a:pPr>
            <a:r>
              <a:rPr lang="pt-BR" sz="2400"/>
              <a:t>Notas.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UML (Partes)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/>
              <a:t>Relacionamentos:</a:t>
            </a:r>
          </a:p>
          <a:p>
            <a:pPr lvl="1">
              <a:lnSpc>
                <a:spcPct val="90000"/>
              </a:lnSpc>
            </a:pPr>
            <a:r>
              <a:rPr lang="pt-BR"/>
              <a:t>Dependência.</a:t>
            </a:r>
          </a:p>
          <a:p>
            <a:pPr lvl="1">
              <a:lnSpc>
                <a:spcPct val="90000"/>
              </a:lnSpc>
            </a:pPr>
            <a:endParaRPr lang="pt-BR"/>
          </a:p>
          <a:p>
            <a:pPr lvl="1">
              <a:lnSpc>
                <a:spcPct val="90000"/>
              </a:lnSpc>
            </a:pPr>
            <a:r>
              <a:rPr lang="pt-BR"/>
              <a:t>Associação.</a:t>
            </a:r>
          </a:p>
          <a:p>
            <a:pPr lvl="1">
              <a:lnSpc>
                <a:spcPct val="90000"/>
              </a:lnSpc>
            </a:pPr>
            <a:endParaRPr lang="pt-BR"/>
          </a:p>
          <a:p>
            <a:pPr lvl="1">
              <a:lnSpc>
                <a:spcPct val="90000"/>
              </a:lnSpc>
            </a:pPr>
            <a:r>
              <a:rPr lang="pt-BR"/>
              <a:t>Generalização.</a:t>
            </a:r>
          </a:p>
          <a:p>
            <a:pPr lvl="1">
              <a:lnSpc>
                <a:spcPct val="90000"/>
              </a:lnSpc>
            </a:pPr>
            <a:endParaRPr lang="pt-BR"/>
          </a:p>
          <a:p>
            <a:pPr lvl="1">
              <a:lnSpc>
                <a:spcPct val="90000"/>
              </a:lnSpc>
            </a:pPr>
            <a:r>
              <a:rPr lang="pt-BR"/>
              <a:t>Realização.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UML (Partes)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pt-BR"/>
              <a:t>Diagramas:</a:t>
            </a:r>
          </a:p>
          <a:p>
            <a:pPr lvl="1">
              <a:lnSpc>
                <a:spcPct val="90000"/>
              </a:lnSpc>
            </a:pPr>
            <a:r>
              <a:rPr lang="pt-BR"/>
              <a:t>Estáticos:</a:t>
            </a:r>
          </a:p>
          <a:p>
            <a:pPr lvl="2">
              <a:lnSpc>
                <a:spcPct val="90000"/>
              </a:lnSpc>
            </a:pPr>
            <a:r>
              <a:rPr lang="pt-BR"/>
              <a:t>Diagrama de classes.</a:t>
            </a:r>
          </a:p>
          <a:p>
            <a:pPr lvl="2">
              <a:lnSpc>
                <a:spcPct val="90000"/>
              </a:lnSpc>
            </a:pPr>
            <a:r>
              <a:rPr lang="pt-BR"/>
              <a:t>Diagrama de objetos.</a:t>
            </a:r>
          </a:p>
          <a:p>
            <a:pPr lvl="2">
              <a:lnSpc>
                <a:spcPct val="90000"/>
              </a:lnSpc>
            </a:pPr>
            <a:r>
              <a:rPr lang="pt-BR"/>
              <a:t>Diagrama de componentes.</a:t>
            </a:r>
          </a:p>
          <a:p>
            <a:pPr lvl="2">
              <a:lnSpc>
                <a:spcPct val="90000"/>
              </a:lnSpc>
            </a:pPr>
            <a:r>
              <a:rPr lang="pt-BR"/>
              <a:t>Diagrama de implantação.</a:t>
            </a:r>
          </a:p>
          <a:p>
            <a:pPr lvl="2">
              <a:lnSpc>
                <a:spcPct val="90000"/>
              </a:lnSpc>
            </a:pPr>
            <a:r>
              <a:rPr lang="pt-BR"/>
              <a:t>Diagrama de pacotes. (2.0)</a:t>
            </a:r>
          </a:p>
          <a:p>
            <a:pPr lvl="2">
              <a:lnSpc>
                <a:spcPct val="90000"/>
              </a:lnSpc>
            </a:pPr>
            <a:r>
              <a:rPr lang="pt-BR"/>
              <a:t>Diagrama de componentes. (2.0)</a:t>
            </a:r>
          </a:p>
          <a:p>
            <a:pPr lvl="2">
              <a:lnSpc>
                <a:spcPct val="90000"/>
              </a:lnSpc>
            </a:pPr>
            <a:r>
              <a:rPr lang="pt-BR"/>
              <a:t>Composite Structure Diagram. (2.0)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UML (Partes)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2800"/>
              <a:t>Diagramas:</a:t>
            </a:r>
          </a:p>
          <a:p>
            <a:pPr lvl="1"/>
            <a:r>
              <a:rPr lang="pt-BR" sz="2400"/>
              <a:t>Dinâmicos:</a:t>
            </a:r>
          </a:p>
          <a:p>
            <a:pPr lvl="2"/>
            <a:r>
              <a:rPr lang="pt-BR" sz="2000"/>
              <a:t>Diagrama de casos de uso.</a:t>
            </a:r>
          </a:p>
          <a:p>
            <a:pPr lvl="2"/>
            <a:r>
              <a:rPr lang="pt-BR" sz="2000"/>
              <a:t>Diagrama de seqüência.</a:t>
            </a:r>
          </a:p>
          <a:p>
            <a:pPr lvl="2"/>
            <a:r>
              <a:rPr lang="pt-BR" sz="2000"/>
              <a:t>Diagrama de colaboração.</a:t>
            </a:r>
          </a:p>
          <a:p>
            <a:pPr lvl="2"/>
            <a:r>
              <a:rPr lang="pt-BR" sz="2000"/>
              <a:t>Diagrama de gráfico de estados.</a:t>
            </a:r>
          </a:p>
          <a:p>
            <a:pPr lvl="2"/>
            <a:r>
              <a:rPr lang="pt-BR" sz="2000"/>
              <a:t>Diagrama de atividade.</a:t>
            </a:r>
          </a:p>
          <a:p>
            <a:pPr lvl="2"/>
            <a:r>
              <a:rPr lang="pt-BR" sz="2000"/>
              <a:t>Diagrama de comunicação. (2.0)</a:t>
            </a:r>
          </a:p>
          <a:p>
            <a:pPr lvl="2"/>
            <a:r>
              <a:rPr lang="pt-BR" sz="2000"/>
              <a:t>Diagrama de interação. (2.0)</a:t>
            </a:r>
          </a:p>
          <a:p>
            <a:pPr lvl="2"/>
            <a:r>
              <a:rPr lang="pt-BR" sz="2000"/>
              <a:t>Diagrama de timing. (2.0)</a:t>
            </a:r>
          </a:p>
          <a:p>
            <a:pPr lvl="2"/>
            <a:endParaRPr lang="pt-BR" sz="20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em">
  <a:themeElements>
    <a:clrScheme name="Origem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em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rigem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78</TotalTime>
  <Words>1029</Words>
  <Application>Microsoft Office PowerPoint</Application>
  <PresentationFormat>Apresentação na tela (4:3)</PresentationFormat>
  <Paragraphs>203</Paragraphs>
  <Slides>31</Slides>
  <Notes>0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3" baseType="lpstr">
      <vt:lpstr>Origem</vt:lpstr>
      <vt:lpstr>Imagem de bitmap</vt:lpstr>
      <vt:lpstr>Introdução à UML</vt:lpstr>
      <vt:lpstr>Agenda</vt:lpstr>
      <vt:lpstr>Era uma vez ... (História)</vt:lpstr>
      <vt:lpstr>Era uma vez .... (História)</vt:lpstr>
      <vt:lpstr>Era uma vez ...(História)</vt:lpstr>
      <vt:lpstr>Era uma vez ...(História)</vt:lpstr>
      <vt:lpstr>Era uma vez ...(História)</vt:lpstr>
      <vt:lpstr>Modelagem</vt:lpstr>
      <vt:lpstr>Modelagem</vt:lpstr>
      <vt:lpstr>Modelagem</vt:lpstr>
      <vt:lpstr>Modelagem</vt:lpstr>
      <vt:lpstr>Modelagem</vt:lpstr>
      <vt:lpstr>Modelagem</vt:lpstr>
      <vt:lpstr>Modelagem</vt:lpstr>
      <vt:lpstr>Modelagem</vt:lpstr>
      <vt:lpstr>UML</vt:lpstr>
      <vt:lpstr>UML</vt:lpstr>
      <vt:lpstr>UML</vt:lpstr>
      <vt:lpstr>UML</vt:lpstr>
      <vt:lpstr>UML</vt:lpstr>
      <vt:lpstr>UML</vt:lpstr>
      <vt:lpstr>UML</vt:lpstr>
      <vt:lpstr>Arquitetura da UML</vt:lpstr>
      <vt:lpstr>Arquitetura UML</vt:lpstr>
      <vt:lpstr>Arquitetura UML</vt:lpstr>
      <vt:lpstr>UML (Partes)</vt:lpstr>
      <vt:lpstr>UML (Partes)</vt:lpstr>
      <vt:lpstr>UML (Partes)</vt:lpstr>
      <vt:lpstr>UML (Partes)</vt:lpstr>
      <vt:lpstr>UML (Partes)</vt:lpstr>
      <vt:lpstr>UML (Partes)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UML</dc:title>
  <dc:creator>Fernando</dc:creator>
  <cp:lastModifiedBy>Fernando</cp:lastModifiedBy>
  <cp:revision>6</cp:revision>
  <dcterms:created xsi:type="dcterms:W3CDTF">2011-03-18T22:12:53Z</dcterms:created>
  <dcterms:modified xsi:type="dcterms:W3CDTF">2013-05-27T20:26:16Z</dcterms:modified>
</cp:coreProperties>
</file>