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Layouts/slideLayout8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924" r:id="rId1"/>
  </p:sldMasterIdLst>
  <p:notesMasterIdLst>
    <p:notesMasterId r:id="rId60"/>
  </p:notesMasterIdLst>
  <p:sldIdLst>
    <p:sldId id="256" r:id="rId2"/>
    <p:sldId id="259" r:id="rId3"/>
    <p:sldId id="308" r:id="rId4"/>
    <p:sldId id="271" r:id="rId5"/>
    <p:sldId id="257" r:id="rId6"/>
    <p:sldId id="258" r:id="rId7"/>
    <p:sldId id="260" r:id="rId8"/>
    <p:sldId id="270" r:id="rId9"/>
    <p:sldId id="310" r:id="rId10"/>
    <p:sldId id="269" r:id="rId11"/>
    <p:sldId id="268" r:id="rId12"/>
    <p:sldId id="267" r:id="rId13"/>
    <p:sldId id="266" r:id="rId14"/>
    <p:sldId id="265" r:id="rId15"/>
    <p:sldId id="264" r:id="rId16"/>
    <p:sldId id="261" r:id="rId17"/>
    <p:sldId id="262" r:id="rId18"/>
    <p:sldId id="287" r:id="rId19"/>
    <p:sldId id="286" r:id="rId20"/>
    <p:sldId id="285" r:id="rId21"/>
    <p:sldId id="284" r:id="rId22"/>
    <p:sldId id="283" r:id="rId23"/>
    <p:sldId id="282" r:id="rId24"/>
    <p:sldId id="281" r:id="rId25"/>
    <p:sldId id="280" r:id="rId26"/>
    <p:sldId id="279" r:id="rId27"/>
    <p:sldId id="278" r:id="rId28"/>
    <p:sldId id="277" r:id="rId29"/>
    <p:sldId id="311" r:id="rId30"/>
    <p:sldId id="276" r:id="rId31"/>
    <p:sldId id="275" r:id="rId32"/>
    <p:sldId id="312" r:id="rId33"/>
    <p:sldId id="313" r:id="rId34"/>
    <p:sldId id="274" r:id="rId35"/>
    <p:sldId id="273" r:id="rId36"/>
    <p:sldId id="263" r:id="rId37"/>
    <p:sldId id="298" r:id="rId38"/>
    <p:sldId id="300" r:id="rId39"/>
    <p:sldId id="299" r:id="rId40"/>
    <p:sldId id="297" r:id="rId41"/>
    <p:sldId id="296" r:id="rId42"/>
    <p:sldId id="295" r:id="rId43"/>
    <p:sldId id="303" r:id="rId44"/>
    <p:sldId id="324" r:id="rId45"/>
    <p:sldId id="323" r:id="rId46"/>
    <p:sldId id="322" r:id="rId47"/>
    <p:sldId id="321" r:id="rId48"/>
    <p:sldId id="320" r:id="rId49"/>
    <p:sldId id="319" r:id="rId50"/>
    <p:sldId id="318" r:id="rId51"/>
    <p:sldId id="317" r:id="rId52"/>
    <p:sldId id="316" r:id="rId53"/>
    <p:sldId id="315" r:id="rId54"/>
    <p:sldId id="325" r:id="rId55"/>
    <p:sldId id="328" r:id="rId56"/>
    <p:sldId id="327" r:id="rId57"/>
    <p:sldId id="329" r:id="rId58"/>
    <p:sldId id="305" r:id="rId59"/>
  </p:sldIdLst>
  <p:sldSz cx="9144000" cy="6858000" type="screen4x3"/>
  <p:notesSz cx="6858000" cy="9144000"/>
  <p:embeddedFontLst>
    <p:embeddedFont>
      <p:font typeface="Arial Black" pitchFamily="34" charset="0"/>
      <p:bold r:id="rId61"/>
    </p:embeddedFont>
    <p:embeddedFont>
      <p:font typeface="Constantia" pitchFamily="18" charset="0"/>
      <p:regular r:id="rId62"/>
      <p:bold r:id="rId63"/>
      <p:italic r:id="rId64"/>
      <p:boldItalic r:id="rId65"/>
    </p:embeddedFont>
    <p:embeddedFont>
      <p:font typeface="Wingdings 2" pitchFamily="18" charset="2"/>
      <p:regular r:id="rId66"/>
    </p:embeddedFont>
    <p:embeddedFont>
      <p:font typeface="Calibri" pitchFamily="34" charset="0"/>
      <p:regular r:id="rId67"/>
      <p:bold r:id="rId68"/>
      <p:italic r:id="rId69"/>
      <p:boldItalic r:id="rId7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33"/>
    <a:srgbClr val="FF6600"/>
    <a:srgbClr val="CCFF33"/>
    <a:srgbClr val="99FF33"/>
    <a:srgbClr val="0000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82972" autoAdjust="0"/>
  </p:normalViewPr>
  <p:slideViewPr>
    <p:cSldViewPr>
      <p:cViewPr varScale="1">
        <p:scale>
          <a:sx n="44" d="100"/>
          <a:sy n="44" d="100"/>
        </p:scale>
        <p:origin x="-1435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7" Type="http://schemas.openxmlformats.org/officeDocument/2006/relationships/slide" Target="slides/slide6.xml"/><Relationship Id="rId71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A2934D-2C69-46CC-9947-D95B5F0DBBFC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9C7EBB-A40D-42FC-8BE3-99A4D2449B9E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1</a:t>
            </a:fld>
            <a:endParaRPr lang="pt-B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2</a:t>
            </a:fld>
            <a:endParaRPr lang="pt-B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3</a:t>
            </a:fld>
            <a:endParaRPr lang="pt-B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É</a:t>
            </a:r>
            <a:r>
              <a:rPr lang="pt-BR" sz="2800" baseline="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também uma 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profissão que aplica: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Teorias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Princípios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Dados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Métodos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Para projetar a fim de otimizar o bem-estar humano e o desempenho geral de um sistema. </a:t>
            </a: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Esta é a definição adotada pela Associação Internacional de Ergonomia.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4</a:t>
            </a:fld>
            <a:endParaRPr lang="pt-B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b="1" kern="1200" noProof="0" dirty="0" smtClean="0">
                <a:solidFill>
                  <a:srgbClr val="FFFF00"/>
                </a:solidFill>
                <a:latin typeface="Arial Black" pitchFamily="34" charset="0"/>
                <a:ea typeface="+mn-ea"/>
                <a:cs typeface="+mn-cs"/>
              </a:rPr>
              <a:t>Usabilidade de forma mais simples é:</a:t>
            </a:r>
            <a:endParaRPr kumimoji="0" lang="pt-BR" sz="2800" b="1" i="0" u="none" strike="noStrike" kern="1200" cap="none" spc="0" normalizeH="0" baseline="0" noProof="0" dirty="0" smtClean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Black" pitchFamily="34" charset="0"/>
              <a:ea typeface="+mn-ea"/>
              <a:cs typeface="+mn-cs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Quando uma pessoa ao utilizar um sistema, possa realizar suas tarefas de forma rápida e fácil</a:t>
            </a: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.</a:t>
            </a:r>
            <a:endParaRPr kumimoji="0" lang="pt-BR" sz="2800" b="0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7</a:t>
            </a:fld>
            <a:endParaRPr lang="pt-B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Não</a:t>
            </a:r>
            <a:r>
              <a:rPr lang="pt-BR" baseline="0" dirty="0" smtClean="0"/>
              <a:t> tinham dificuldades em operar sistemas que na verdade eram feitos/Desenvolvidos sob medida para si.</a:t>
            </a:r>
          </a:p>
          <a:p>
            <a:endParaRPr lang="pt-BR" baseline="0" dirty="0" smtClean="0"/>
          </a:p>
          <a:p>
            <a:r>
              <a:rPr lang="pt-BR" dirty="0" smtClean="0"/>
              <a:t>Mais</a:t>
            </a:r>
            <a:r>
              <a:rPr lang="pt-BR" baseline="0" dirty="0" smtClean="0"/>
              <a:t> tarde, os programas  de software começaram a ser utilizados por uma pequeno publico de usuários externos, que recebiam treinamento intenso para conseguir operar o sistema.</a:t>
            </a:r>
          </a:p>
          <a:p>
            <a:endParaRPr lang="pt-BR" baseline="0" dirty="0" smtClean="0"/>
          </a:p>
          <a:p>
            <a:r>
              <a:rPr lang="pt-BR" baseline="0" dirty="0" smtClean="0"/>
              <a:t>Com o passar do tempo 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8</a:t>
            </a:fld>
            <a:endParaRPr lang="pt-B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050" b="1" kern="1200" dirty="0" smtClean="0">
                <a:solidFill>
                  <a:schemeClr val="tx2">
                    <a:lumMod val="90000"/>
                  </a:schemeClr>
                </a:solidFill>
                <a:latin typeface="+mn-lt"/>
                <a:ea typeface="+mn-ea"/>
                <a:cs typeface="+mn-cs"/>
              </a:rPr>
              <a:t>1ª. Precisamos nos certificar de que a interface sempre informe ao usuário o que está acontecendo, ou seja, todas as ações precisam de feedback instantâneo para orientá-lo.</a:t>
            </a:r>
          </a:p>
          <a:p>
            <a:endParaRPr lang="pt-BR" sz="105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2ª. Não usar palavras de sistema, que não fazem sentido pro usuário. Toda a comunicação do sistema precisa ser contextualizada ao usuário, e ser coerente.</a:t>
            </a:r>
          </a:p>
          <a:p>
            <a:endParaRPr lang="pt-BR" sz="1050" b="1" dirty="0" smtClean="0"/>
          </a:p>
          <a:p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3ª. Permita que o usuário faça ou desfaça a ação no sistema e retorne ao ponto anterior, quando estiver perdido ou em situações inesperadas.</a:t>
            </a:r>
          </a:p>
          <a:p>
            <a:endParaRPr lang="pt-BR" sz="105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4ª. Fale a mesma língua o tempo todo, e nunca identifique uma mesma ação com ícones ou palavras diferentes. Trate coisas similares, da mesma maneira, facilitando a identificação do usuário.</a:t>
            </a:r>
          </a:p>
          <a:p>
            <a:endParaRPr lang="pt-BR" sz="1050" b="1" dirty="0" smtClean="0"/>
          </a:p>
          <a:p>
            <a:pPr lvl="0"/>
            <a:r>
              <a:rPr lang="pt-BR" sz="1050" b="1" dirty="0" smtClean="0"/>
              <a:t>5ª. </a:t>
            </a:r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Evitar situações de erro. Conhecer as situações que mais provocam erros e modificar a interface para que estes erros não ocorram.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14</a:t>
            </a:fld>
            <a:endParaRPr lang="pt-B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6ª. Evite acionar a memória do usuário o tempo inteiro, fazendo com que cada ação precise ser revista mentalmente antes de ser executada. Permita que a interface ofereça ajuda contextual, e informações capazes de orientar as ações do usuário.</a:t>
            </a:r>
          </a:p>
          <a:p>
            <a:endParaRPr lang="pt-BR" sz="105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7ª. O sistema precisa ser fácil para usuários leigos, mas flexível o bastante para se tornar ágil à usuários avançados. Essa flexibilidade pode ser conseguida com a permissão de teclas de atalhos, por exemplo.</a:t>
            </a:r>
          </a:p>
          <a:p>
            <a:endParaRPr lang="pt-BR" sz="1050" b="1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8ª. Evite que os textos e o design fale mais do que o usuário necessita saber. Os “diálogos” do sistema precisam ser simples, diretos e naturais, presentes nos momentos em que são necessários.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9ª. </a:t>
            </a:r>
            <a:r>
              <a:rPr lang="pt-BR" sz="120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As mensagens de erro do sistema devem possuir uma redação simples e clara que ao invés de intimidar o usuário com o erro, indique uma saída construtiva ou possível solução.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050" b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10ª. Um bom design deveria evitar ao máximo à necessidade de ajuda na utilização do sistema. Ainda assim, um bom conjunto de documentação e ajuda deve ser utilizado para orientar o usuário em caso de dúvida. Deve ser visível, facilmente acessada</a:t>
            </a:r>
          </a:p>
          <a:p>
            <a:endParaRPr lang="pt-BR" sz="1050" b="1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15</a:t>
            </a:fld>
            <a:endParaRPr lang="pt-B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18</a:t>
            </a:fld>
            <a:endParaRPr lang="pt-B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Tela de configuração de cores</a:t>
            </a:r>
            <a:r>
              <a:rPr lang="pt-BR" baseline="0" dirty="0" smtClean="0"/>
              <a:t> do Microsoft Office.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38</a:t>
            </a:fld>
            <a:endParaRPr lang="pt-B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Os</a:t>
            </a:r>
            <a:r>
              <a:rPr lang="pt-BR" baseline="0" dirty="0" smtClean="0"/>
              <a:t> erros provocam interrupções e tem conseqüências negativas sobre a atividade do usuário.</a:t>
            </a:r>
          </a:p>
          <a:p>
            <a:endParaRPr lang="pt-BR" baseline="0" dirty="0" smtClean="0"/>
          </a:p>
          <a:p>
            <a:r>
              <a:rPr lang="pt-BR" baseline="0" dirty="0" smtClean="0"/>
              <a:t>Quanto menos erros acontecerem, menos interrupções ocorrerão e melhor será o desempenho do usuário.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39</a:t>
            </a:fld>
            <a:endParaRPr lang="pt-B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Exemplo</a:t>
            </a:r>
            <a:r>
              <a:rPr lang="pt-BR" baseline="0" dirty="0" smtClean="0"/>
              <a:t> Microsoft e Apple.</a:t>
            </a:r>
          </a:p>
          <a:p>
            <a:endParaRPr lang="pt-BR" baseline="0" dirty="0" smtClean="0"/>
          </a:p>
          <a:p>
            <a:r>
              <a:rPr lang="pt-BR" baseline="0" dirty="0" smtClean="0"/>
              <a:t>Microsoft coloca o foco sobre a ação destrutiva, com o intuito de reduzir a carga de trabalho do usuário – Ação automatizável.</a:t>
            </a:r>
          </a:p>
          <a:p>
            <a:endParaRPr lang="pt-BR" baseline="0" dirty="0" smtClean="0"/>
          </a:p>
          <a:p>
            <a:r>
              <a:rPr lang="pt-BR" baseline="0" dirty="0" smtClean="0"/>
              <a:t>A Apple coloca o foco dobre a ação que anula, com o intuito de evitar erros – Proteção contra erros.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40</a:t>
            </a:fld>
            <a:endParaRPr lang="pt-B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19C7EBB-A40D-42FC-8BE3-99A4D2449B9E}" type="slidenum">
              <a:rPr lang="pt-BR" smtClean="0"/>
              <a:pPr/>
              <a:t>44</a:t>
            </a:fld>
            <a:endParaRPr lang="pt-B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30" name="Espaço Reservado para Data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19" name="Espaço Reservado para Rodap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27" name="Espaço Reservado para Número de Slid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com Único Canto Aparado e Arredondado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Triângulo retângulo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10" name="Forma livre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orma livre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rma livre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rma livre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Espaço Reservado para Título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0" name="Espaço Reservado para Texto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9A66F61B-D123-4FDB-B58B-16FD264C6804}" type="datetimeFigureOut">
              <a:rPr lang="pt-BR" smtClean="0"/>
              <a:pPr/>
              <a:t>27/05/2015</a:t>
            </a:fld>
            <a:endParaRPr lang="pt-BR"/>
          </a:p>
        </p:txBody>
      </p:sp>
      <p:sp>
        <p:nvSpPr>
          <p:cNvPr id="22" name="Espaço Reservado para Rodapé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18" name="Espaço Reservado para Número de Slide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741DF84-09F2-4994-80CC-3355F3CA3D86}" type="slidenum">
              <a:rPr lang="pt-BR" smtClean="0"/>
              <a:pPr/>
              <a:t>‹nº›</a:t>
            </a:fld>
            <a:endParaRPr lang="pt-BR"/>
          </a:p>
        </p:txBody>
      </p:sp>
      <p:grpSp>
        <p:nvGrpSpPr>
          <p:cNvPr id="2" name="Grupo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orma livre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orma livre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5" r:id="rId1"/>
    <p:sldLayoutId id="2147483926" r:id="rId2"/>
    <p:sldLayoutId id="2147483927" r:id="rId3"/>
    <p:sldLayoutId id="2147483928" r:id="rId4"/>
    <p:sldLayoutId id="2147483929" r:id="rId5"/>
    <p:sldLayoutId id="2147483930" r:id="rId6"/>
    <p:sldLayoutId id="2147483931" r:id="rId7"/>
    <p:sldLayoutId id="2147483932" r:id="rId8"/>
    <p:sldLayoutId id="2147483933" r:id="rId9"/>
    <p:sldLayoutId id="2147483934" r:id="rId10"/>
    <p:sldLayoutId id="2147483935" r:id="rId11"/>
  </p:sldLayoutIdLst>
  <p:transition>
    <p:wipe/>
  </p:transition>
  <p:timing>
    <p:tnLst>
      <p:par>
        <p:cTn id="1" dur="indefinite" restart="never" nodeType="tmRoot"/>
      </p:par>
    </p:tnLst>
  </p:timing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0" y="1285860"/>
            <a:ext cx="8858280" cy="3071834"/>
          </a:xfrm>
        </p:spPr>
        <p:txBody>
          <a:bodyPr>
            <a:noAutofit/>
            <a:scene3d>
              <a:camera prst="orthographicFront"/>
              <a:lightRig rig="balanced" dir="t">
                <a:rot lat="0" lon="0" rev="2100000"/>
              </a:lightRig>
            </a:scene3d>
            <a:sp3d extrusionH="57150" prstMaterial="metal">
              <a:bevelT w="38100" h="25400"/>
              <a:contourClr>
                <a:schemeClr val="bg2"/>
              </a:contourClr>
            </a:sp3d>
          </a:bodyPr>
          <a:lstStyle/>
          <a:p>
            <a:pPr algn="ctr"/>
            <a:r>
              <a:rPr lang="pt-BR" sz="8000" dirty="0" smtClean="0">
                <a:ln w="50800"/>
                <a:solidFill>
                  <a:schemeClr val="tx1"/>
                </a:solidFill>
                <a:effectLst/>
                <a:latin typeface="Arial Black" pitchFamily="34" charset="0"/>
              </a:rPr>
              <a:t>ERGONOMIA </a:t>
            </a:r>
            <a:br>
              <a:rPr lang="pt-BR" sz="8000" dirty="0" smtClean="0">
                <a:ln w="50800"/>
                <a:solidFill>
                  <a:schemeClr val="tx1"/>
                </a:solidFill>
                <a:effectLst/>
                <a:latin typeface="Arial Black" pitchFamily="34" charset="0"/>
              </a:rPr>
            </a:br>
            <a:r>
              <a:rPr lang="pt-BR" sz="8000" dirty="0" smtClean="0">
                <a:ln w="50800"/>
                <a:solidFill>
                  <a:schemeClr val="tx1"/>
                </a:solidFill>
                <a:effectLst/>
                <a:latin typeface="Arial Black" pitchFamily="34" charset="0"/>
              </a:rPr>
              <a:t>E</a:t>
            </a:r>
            <a:br>
              <a:rPr lang="pt-BR" sz="8000" dirty="0" smtClean="0">
                <a:ln w="50800"/>
                <a:solidFill>
                  <a:schemeClr val="tx1"/>
                </a:solidFill>
                <a:effectLst/>
                <a:latin typeface="Arial Black" pitchFamily="34" charset="0"/>
              </a:rPr>
            </a:br>
            <a:r>
              <a:rPr lang="pt-BR" sz="8000" dirty="0" smtClean="0">
                <a:ln w="50800"/>
                <a:solidFill>
                  <a:schemeClr val="tx1"/>
                </a:solidFill>
                <a:effectLst/>
                <a:latin typeface="Arial Black" pitchFamily="34" charset="0"/>
              </a:rPr>
              <a:t>USABILIDADE</a:t>
            </a:r>
            <a:endParaRPr lang="pt-BR" sz="8000" dirty="0">
              <a:ln w="50800"/>
              <a:solidFill>
                <a:schemeClr val="tx1"/>
              </a:solidFill>
              <a:effectLst/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215306" cy="609250"/>
          </a:xfrm>
        </p:spPr>
        <p:txBody>
          <a:bodyPr>
            <a:noAutofit/>
          </a:bodyPr>
          <a:lstStyle/>
          <a:p>
            <a:pPr algn="l"/>
            <a:r>
              <a:rPr lang="pt-BR" sz="4000" b="1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O autor: </a:t>
            </a:r>
            <a:r>
              <a:rPr lang="pt-BR" sz="4000" b="1" dirty="0" smtClean="0">
                <a:solidFill>
                  <a:srgbClr val="FFC000"/>
                </a:solidFill>
                <a:effectLst/>
                <a:latin typeface="Arial Black" pitchFamily="34" charset="0"/>
              </a:rPr>
              <a:t>Walter Cybis</a:t>
            </a:r>
            <a:endParaRPr lang="pt-BR" sz="4000" b="1" dirty="0">
              <a:solidFill>
                <a:srgbClr val="FFC000"/>
              </a:solidFill>
              <a:effectLst/>
              <a:latin typeface="Arial Black" pitchFamily="34" charset="0"/>
            </a:endParaRPr>
          </a:p>
        </p:txBody>
      </p:sp>
      <p:sp>
        <p:nvSpPr>
          <p:cNvPr id="5" name="Espaço Reservado para Conteúdo 3"/>
          <p:cNvSpPr>
            <a:spLocks noGrp="1"/>
          </p:cNvSpPr>
          <p:nvPr>
            <p:ph type="subTitle" idx="1"/>
          </p:nvPr>
        </p:nvSpPr>
        <p:spPr>
          <a:xfrm>
            <a:off x="13616" y="1978998"/>
            <a:ext cx="8786842" cy="4879002"/>
          </a:xfrm>
        </p:spPr>
        <p:txBody>
          <a:bodyPr>
            <a:noAutofit/>
          </a:bodyPr>
          <a:lstStyle/>
          <a:p>
            <a:pPr lvl="1" algn="l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	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Criador e diretor do primeiro laboratório de 	usabilidade do Brasil (LabIUtil - SC)</a:t>
            </a:r>
          </a:p>
          <a:p>
            <a:pPr lvl="2" algn="l">
              <a:buClr>
                <a:srgbClr val="FF6600"/>
              </a:buClr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 algn="l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	Responsável pela formação de uma geração 	de 	profissionais em usabilidade.</a:t>
            </a:r>
          </a:p>
          <a:p>
            <a:pPr lvl="2" algn="l">
              <a:buClr>
                <a:srgbClr val="FF6600"/>
              </a:buClr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 algn="l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É consultor em engenharia de usabilidade na 	cidade de Montreal, Canadá</a:t>
            </a:r>
            <a:r>
              <a:rPr lang="pt-BR" sz="3200" dirty="0" smtClean="0">
                <a:solidFill>
                  <a:schemeClr val="accent6">
                    <a:lumMod val="20000"/>
                    <a:lumOff val="80000"/>
                  </a:schemeClr>
                </a:solidFill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241578" y="-24"/>
            <a:ext cx="8215306" cy="60925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/>
          <a:p>
            <a:pPr lvl="0">
              <a:spcBef>
                <a:spcPct val="0"/>
              </a:spcBef>
              <a:defRPr/>
            </a:pPr>
            <a:r>
              <a:rPr kumimoji="0" lang="pt-B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O que é Ergonomia</a:t>
            </a:r>
            <a:r>
              <a:rPr lang="pt-BR" sz="4000" b="1" dirty="0" smtClean="0">
                <a:solidFill>
                  <a:srgbClr val="FFFF00"/>
                </a:solidFill>
                <a:latin typeface="Arial Black" pitchFamily="34" charset="0"/>
                <a:cs typeface="Arial" pitchFamily="34" charset="0"/>
              </a:rPr>
              <a:t>?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57488" y="2000240"/>
            <a:ext cx="3429024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 2"/>
          <p:cNvSpPr/>
          <p:nvPr/>
        </p:nvSpPr>
        <p:spPr>
          <a:xfrm>
            <a:off x="-357222" y="1643050"/>
            <a:ext cx="892975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 algn="just">
              <a:buClr>
                <a:srgbClr val="FF6600"/>
              </a:buClr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 ergonomia é a disciplina científica relacionada ao entendimento das interações entre seres humanos e outros elementos de um sistema.</a:t>
            </a:r>
          </a:p>
          <a:p>
            <a:pPr marL="971550" lvl="1" indent="-514350" algn="just">
              <a:buClr>
                <a:srgbClr val="FF6600"/>
              </a:buClr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	O principio da ergonomia é estudar o conforto e a adaptação aos objetos e interfaces visando aumentar a produtividade e a satisfação das pessoas.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215306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latin typeface="Arial Black" pitchFamily="34" charset="0"/>
              </a:rPr>
              <a:t>O que é Usabilidade</a:t>
            </a:r>
            <a:r>
              <a:rPr lang="pt-BR" sz="4000" dirty="0" smtClean="0">
                <a:solidFill>
                  <a:srgbClr val="FFFF00"/>
                </a:solidFill>
                <a:latin typeface="Arial Black" pitchFamily="34" charset="0"/>
                <a:cs typeface="Arial" pitchFamily="34" charset="0"/>
              </a:rPr>
              <a:t>?</a:t>
            </a:r>
            <a:endParaRPr lang="pt-BR" sz="4000" dirty="0">
              <a:solidFill>
                <a:srgbClr val="FFFF00"/>
              </a:solidFill>
              <a:latin typeface="Arial Black" pitchFamily="34" charset="0"/>
            </a:endParaRP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57488" y="2000240"/>
            <a:ext cx="3429024" cy="32147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7851648" cy="614354"/>
          </a:xfrm>
        </p:spPr>
        <p:txBody>
          <a:bodyPr>
            <a:normAutofit/>
          </a:bodyPr>
          <a:lstStyle/>
          <a:p>
            <a:pPr algn="l"/>
            <a:r>
              <a:rPr lang="pt-BR" sz="4000" b="1" dirty="0" smtClean="0">
                <a:solidFill>
                  <a:srgbClr val="FFFF00"/>
                </a:solidFill>
                <a:latin typeface="Arial Black" pitchFamily="34" charset="0"/>
              </a:rPr>
              <a:t>Segundo o autor:</a:t>
            </a:r>
            <a:endParaRPr lang="pt-BR" sz="4000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8" name="Espaço Reservado para Conteúdo 3"/>
          <p:cNvSpPr>
            <a:spLocks noGrp="1"/>
          </p:cNvSpPr>
          <p:nvPr>
            <p:ph type="subTitle" idx="1"/>
          </p:nvPr>
        </p:nvSpPr>
        <p:spPr>
          <a:xfrm>
            <a:off x="9562" y="1986592"/>
            <a:ext cx="9134438" cy="3799862"/>
          </a:xfrm>
        </p:spPr>
        <p:txBody>
          <a:bodyPr>
            <a:normAutofit/>
          </a:bodyPr>
          <a:lstStyle/>
          <a:p>
            <a:pPr lvl="1" algn="l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É a qualidade que caracteriza o uso de um 	sistema interativo.</a:t>
            </a:r>
          </a:p>
          <a:p>
            <a:pPr lvl="1" algn="l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5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Medida de  </a:t>
            </a:r>
            <a:r>
              <a:rPr lang="pt-BR" sz="2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qualidade</a:t>
            </a:r>
            <a:r>
              <a:rPr lang="pt-BR" sz="25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dos objetos e interfaces acrescida à </a:t>
            </a:r>
            <a:r>
              <a:rPr lang="pt-BR" sz="2500" dirty="0" smtClean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utilidade</a:t>
            </a:r>
            <a:r>
              <a:rPr lang="pt-BR" sz="25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dos mesmos. </a:t>
            </a:r>
          </a:p>
          <a:p>
            <a:pPr lvl="2" algn="l">
              <a:buClr>
                <a:srgbClr val="FF6600"/>
              </a:buClr>
              <a:buFont typeface="Wingdings" pitchFamily="2" charset="2"/>
              <a:buChar char="Ø"/>
            </a:pPr>
            <a:endParaRPr lang="pt-BR" sz="2500" dirty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215306" cy="609250"/>
          </a:xfrm>
        </p:spPr>
        <p:txBody>
          <a:bodyPr>
            <a:noAutofit/>
          </a:bodyPr>
          <a:lstStyle/>
          <a:p>
            <a:pPr algn="l"/>
            <a:r>
              <a:rPr lang="pt-BR" sz="4000" b="1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Segundo a norma ISO – 9241: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9" name="Espaço Reservado para Conteúdo 3"/>
          <p:cNvSpPr>
            <a:spLocks noGrp="1"/>
          </p:cNvSpPr>
          <p:nvPr>
            <p:ph type="subTitle" idx="1"/>
          </p:nvPr>
        </p:nvSpPr>
        <p:spPr>
          <a:xfrm>
            <a:off x="9562" y="1986592"/>
            <a:ext cx="8848718" cy="1752600"/>
          </a:xfrm>
        </p:spPr>
        <p:txBody>
          <a:bodyPr>
            <a:normAutofit lnSpcReduction="10000"/>
          </a:bodyPr>
          <a:lstStyle/>
          <a:p>
            <a:pPr lvl="1" algn="just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É a capacidade que um sistema interativo 	oferece ao usuário em determinado contexto de 	operação, para realização de tarefas de 	maneira  	eficaz, eficiente e agradável.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215306" cy="609250"/>
          </a:xfrm>
        </p:spPr>
        <p:txBody>
          <a:bodyPr>
            <a:noAutofit/>
          </a:bodyPr>
          <a:lstStyle/>
          <a:p>
            <a:pPr algn="l"/>
            <a:r>
              <a:rPr lang="pt-BR" sz="4000" b="1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Introdução à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6" name="Espaço Reservado para Conteúdo 3"/>
          <p:cNvSpPr>
            <a:spLocks noGrp="1"/>
          </p:cNvSpPr>
          <p:nvPr>
            <p:ph type="subTitle" idx="1"/>
          </p:nvPr>
        </p:nvSpPr>
        <p:spPr>
          <a:xfrm>
            <a:off x="9562" y="1986592"/>
            <a:ext cx="9134438" cy="1752600"/>
          </a:xfrm>
        </p:spPr>
        <p:txBody>
          <a:bodyPr>
            <a:normAutofit/>
          </a:bodyPr>
          <a:lstStyle/>
          <a:p>
            <a:pPr lvl="1" algn="l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No inicio da informatização, os usuários dos 	programas de computadores eram os seus	próprios desenvolvedores...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Conteúdo 3"/>
          <p:cNvSpPr txBox="1">
            <a:spLocks/>
          </p:cNvSpPr>
          <p:nvPr/>
        </p:nvSpPr>
        <p:spPr>
          <a:xfrm>
            <a:off x="9562" y="1986592"/>
            <a:ext cx="9134438" cy="272829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Pct val="85000"/>
              <a:buFont typeface="Wingdings" pitchFamily="2" charset="2"/>
              <a:buChar char="Ø"/>
              <a:tabLst/>
              <a:defRPr/>
            </a:pPr>
            <a:r>
              <a:rPr kumimoji="0" lang="pt-BR" sz="2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Iniciante;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Pct val="85000"/>
              <a:buFont typeface="Wingdings" pitchFamily="2" charset="2"/>
              <a:buChar char="Ø"/>
              <a:tabLst/>
              <a:defRPr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Pct val="85000"/>
              <a:buFont typeface="Wingdings" pitchFamily="2" charset="2"/>
              <a:buChar char="Ø"/>
              <a:tabLst/>
              <a:defRPr/>
            </a:pPr>
            <a:r>
              <a:rPr kumimoji="0" lang="pt-BR" sz="2800" b="1" i="0" u="none" strike="noStrike" kern="1200" cap="none" spc="0" normalizeH="0" noProof="0" dirty="0" smtClean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Intermediário;</a:t>
            </a: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Pct val="85000"/>
              <a:buFont typeface="Wingdings" pitchFamily="2" charset="2"/>
              <a:buChar char="Ø"/>
              <a:tabLst/>
              <a:defRPr/>
            </a:pPr>
            <a:endParaRPr lang="pt-BR" sz="2800" b="1" baseline="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640080" marR="0" lvl="1" indent="-246888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6600"/>
              </a:buClr>
              <a:buSzPct val="85000"/>
              <a:buFont typeface="Wingdings" pitchFamily="2" charset="2"/>
              <a:buChar char="Ø"/>
              <a:tabLst/>
              <a:defRPr/>
            </a:pPr>
            <a:r>
              <a:rPr kumimoji="0" lang="pt-BR" sz="2800" b="1" i="0" strike="noStrike" kern="1200" cap="none" spc="0" normalizeH="0" noProof="0" dirty="0" smtClean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Avançado</a:t>
            </a:r>
            <a:r>
              <a:rPr kumimoji="0" lang="pt-BR" sz="2800" b="1" i="0" u="none" strike="noStrike" kern="1200" cap="none" spc="0" normalizeH="0" noProof="0" dirty="0" smtClean="0">
                <a:ln>
                  <a:noFill/>
                </a:ln>
                <a:solidFill>
                  <a:schemeClr val="accent6">
                    <a:lumMod val="20000"/>
                    <a:lumOff val="80000"/>
                  </a:schemeClr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;</a:t>
            </a:r>
            <a:endParaRPr kumimoji="0" lang="pt-BR" sz="2800" b="1" i="0" u="none" strike="noStrike" kern="1200" cap="none" spc="0" normalizeH="0" baseline="0" noProof="0" dirty="0" smtClean="0">
              <a:ln>
                <a:noFill/>
              </a:ln>
              <a:solidFill>
                <a:schemeClr val="accent6">
                  <a:lumMod val="20000"/>
                  <a:lumOff val="80000"/>
                </a:schemeClr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9" name="Título 1"/>
          <p:cNvSpPr txBox="1">
            <a:spLocks/>
          </p:cNvSpPr>
          <p:nvPr/>
        </p:nvSpPr>
        <p:spPr>
          <a:xfrm>
            <a:off x="393978" y="-24"/>
            <a:ext cx="8215306" cy="60925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Níveis de usuários: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214346" y="-24"/>
            <a:ext cx="8929654" cy="659788"/>
          </a:xfrm>
        </p:spPr>
        <p:txBody>
          <a:bodyPr>
            <a:normAutofit/>
          </a:bodyPr>
          <a:lstStyle/>
          <a:p>
            <a:pPr algn="l"/>
            <a:r>
              <a:rPr lang="pt-BR" sz="34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Objetivos dos sistemas ergonômicos:</a:t>
            </a:r>
            <a:endParaRPr lang="pt-BR" sz="34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2" name="Espaço Reservado para Conteúdo 3"/>
          <p:cNvSpPr>
            <a:spLocks noGrp="1"/>
          </p:cNvSpPr>
          <p:nvPr>
            <p:ph type="subTitle" idx="1"/>
          </p:nvPr>
        </p:nvSpPr>
        <p:spPr>
          <a:xfrm>
            <a:off x="9562" y="1986592"/>
            <a:ext cx="8991594" cy="2442540"/>
          </a:xfrm>
        </p:spPr>
        <p:txBody>
          <a:bodyPr>
            <a:normAutofit/>
          </a:bodyPr>
          <a:lstStyle/>
          <a:p>
            <a:pPr lvl="1" algn="l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Oferecer usabilidade aos usuários, 	proporcionando-lhes interações eficazes, 	eficientes e agradáveis, além de gerar 	confiança 	e satisfação com as facilidades que 	encontram durante a utilização do sistema.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215306" cy="609250"/>
          </a:xfrm>
        </p:spPr>
        <p:txBody>
          <a:bodyPr>
            <a:noAutofit/>
          </a:bodyPr>
          <a:lstStyle/>
          <a:p>
            <a:pPr algn="l"/>
            <a:r>
              <a:rPr lang="pt-BR" sz="4000" b="1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Benefícios</a:t>
            </a:r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: 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0" y="1988568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Aumento de produtividade;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-32" y="2857496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Aumento no número de vendas;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7" name="Retângulo 6"/>
          <p:cNvSpPr/>
          <p:nvPr/>
        </p:nvSpPr>
        <p:spPr>
          <a:xfrm>
            <a:off x="-32" y="3714752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Diminuição do tempo de treinamento e 	estrutura de suporte;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-32" y="4977482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Melhor imagem no mercado;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1180754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Desenvolvimento de interfaces ergonômicas: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2411656"/>
            <a:ext cx="892971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É fundamental para construção de interfaces 	ergonômicas que proporcionam usabilidade, 	que 	os desenvolvedores de sistema conheçam 	muito bem o usuário e o seu trabalho.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7296" y="-24"/>
            <a:ext cx="9116704" cy="609250"/>
          </a:xfrm>
        </p:spPr>
        <p:txBody>
          <a:bodyPr>
            <a:noAutofit/>
          </a:bodyPr>
          <a:lstStyle/>
          <a:p>
            <a:pPr algn="l"/>
            <a:r>
              <a:rPr lang="pt-BR" sz="39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Princípios ergonômicos para IHC:</a:t>
            </a:r>
            <a:endParaRPr lang="pt-BR" sz="39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4" name="Título 1"/>
          <p:cNvSpPr txBox="1">
            <a:spLocks/>
          </p:cNvSpPr>
          <p:nvPr/>
        </p:nvSpPr>
        <p:spPr>
          <a:xfrm>
            <a:off x="357158" y="1813222"/>
            <a:ext cx="8330918" cy="3071834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rmAutofit fontScale="97500"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FF66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Arial Black" pitchFamily="34" charset="0"/>
                <a:ea typeface="+mj-ea"/>
                <a:cs typeface="+mj-cs"/>
              </a:rPr>
              <a:t>	</a:t>
            </a:r>
            <a:r>
              <a:rPr lang="pt-BR" sz="3600" b="1" dirty="0" smtClean="0">
                <a:solidFill>
                  <a:srgbClr val="FF66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Arial Black" pitchFamily="34" charset="0"/>
                <a:ea typeface="+mj-ea"/>
                <a:cs typeface="+mj-cs"/>
              </a:rPr>
              <a:t>Jakob Nielsen </a:t>
            </a:r>
            <a:r>
              <a:rPr lang="pt-BR" sz="3600" b="1" dirty="0" smtClean="0">
                <a:solidFill>
                  <a:srgbClr val="FFC000"/>
                </a:solidFill>
                <a:latin typeface="Arial" pitchFamily="34" charset="0"/>
                <a:ea typeface="+mj-ea"/>
                <a:cs typeface="Arial" pitchFamily="34" charset="0"/>
              </a:rPr>
              <a:t>(Um dos maiores especialista em usabilidade dos USA)</a:t>
            </a:r>
            <a:r>
              <a:rPr lang="pt-BR" sz="3600" b="1" dirty="0" smtClean="0">
                <a:solidFill>
                  <a:srgbClr val="FF66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Arial Black" pitchFamily="34" charset="0"/>
                <a:ea typeface="+mj-ea"/>
                <a:cs typeface="+mj-cs"/>
              </a:rPr>
              <a:t>, propõe um conjunto de dez heurísticas de usabilidade:</a:t>
            </a:r>
            <a:endParaRPr kumimoji="0" lang="pt-BR" sz="3600" b="1" i="0" u="none" strike="noStrike" kern="1200" cap="none" spc="0" normalizeH="0" baseline="0" noProof="0" dirty="0">
              <a:ln>
                <a:noFill/>
              </a:ln>
              <a:solidFill>
                <a:srgbClr val="FF6600"/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98000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Visibilidade do estado do sistema;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Heurísticas de usabilidade 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-32" y="295406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2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Mapeamento entre o sistema e o mundo real;</a:t>
            </a:r>
          </a:p>
        </p:txBody>
      </p:sp>
      <p:sp>
        <p:nvSpPr>
          <p:cNvPr id="6" name="Retângulo 5"/>
          <p:cNvSpPr/>
          <p:nvPr/>
        </p:nvSpPr>
        <p:spPr>
          <a:xfrm>
            <a:off x="-32" y="3905912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3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Liberdade de controle ao usuário;</a:t>
            </a:r>
          </a:p>
        </p:txBody>
      </p:sp>
      <p:sp>
        <p:nvSpPr>
          <p:cNvPr id="7" name="Retângulo 6"/>
          <p:cNvSpPr/>
          <p:nvPr/>
        </p:nvSpPr>
        <p:spPr>
          <a:xfrm>
            <a:off x="-32" y="474001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4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Consistência e padrões;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-32" y="562042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5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Prevenção de erros;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6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Heurísticas de usabilidade 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0" y="198339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6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Reconhecer em vez de relembrar;</a:t>
            </a:r>
          </a:p>
        </p:txBody>
      </p:sp>
      <p:sp>
        <p:nvSpPr>
          <p:cNvPr id="6" name="Retângulo 5"/>
          <p:cNvSpPr/>
          <p:nvPr/>
        </p:nvSpPr>
        <p:spPr>
          <a:xfrm>
            <a:off x="-32" y="297430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7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Flexibilidade e eficiência de uso;</a:t>
            </a:r>
          </a:p>
        </p:txBody>
      </p:sp>
      <p:sp>
        <p:nvSpPr>
          <p:cNvPr id="7" name="Retângulo 6"/>
          <p:cNvSpPr/>
          <p:nvPr/>
        </p:nvSpPr>
        <p:spPr>
          <a:xfrm>
            <a:off x="-32" y="3902998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8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Design estético e minimalista;</a:t>
            </a:r>
          </a:p>
        </p:txBody>
      </p:sp>
      <p:sp>
        <p:nvSpPr>
          <p:cNvPr id="8" name="Retângulo 7"/>
          <p:cNvSpPr/>
          <p:nvPr/>
        </p:nvSpPr>
        <p:spPr>
          <a:xfrm>
            <a:off x="-32" y="4688816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9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Suporte para o usuário reconhecer,                  diagnosticar e recuperar erros;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-32" y="5906176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10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Ajuda e documentação;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ítulo 1"/>
          <p:cNvSpPr txBox="1">
            <a:spLocks/>
          </p:cNvSpPr>
          <p:nvPr/>
        </p:nvSpPr>
        <p:spPr>
          <a:xfrm>
            <a:off x="357158" y="1785926"/>
            <a:ext cx="8330918" cy="2027560"/>
          </a:xfrm>
          <a:prstGeom prst="rect">
            <a:avLst/>
          </a:prstGeom>
          <a:ln>
            <a:noFill/>
          </a:ln>
        </p:spPr>
        <p:txBody>
          <a:bodyPr vert="horz" lIns="0" tIns="0" rIns="18288" bIns="0" anchor="b">
            <a:normAutofit fontScale="82500" lnSpcReduction="10000"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3600" b="1" dirty="0">
                <a:solidFill>
                  <a:srgbClr val="FF6600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Arial Black" pitchFamily="34" charset="0"/>
                <a:ea typeface="+mj-ea"/>
                <a:cs typeface="+mj-cs"/>
              </a:rPr>
              <a:t>	</a:t>
            </a:r>
            <a:r>
              <a:rPr lang="pt-BR" sz="3100" b="1" dirty="0" smtClean="0">
                <a:solidFill>
                  <a:srgbClr val="FF9933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Arial Black" pitchFamily="34" charset="0"/>
                <a:ea typeface="+mj-ea"/>
                <a:cs typeface="Arial" pitchFamily="34" charset="0"/>
              </a:rPr>
              <a:t>Ben </a:t>
            </a:r>
            <a:r>
              <a:rPr lang="pt-BR" sz="3100" b="1" dirty="0" err="1" smtClean="0">
                <a:solidFill>
                  <a:srgbClr val="FF9933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Arial Black" pitchFamily="34" charset="0"/>
                <a:ea typeface="+mj-ea"/>
                <a:cs typeface="Arial" pitchFamily="34" charset="0"/>
              </a:rPr>
              <a:t>Shneiderman</a:t>
            </a:r>
            <a:r>
              <a:rPr lang="pt-BR" sz="3100" b="1" dirty="0" smtClean="0">
                <a:solidFill>
                  <a:srgbClr val="FF9933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Arial Black" pitchFamily="34" charset="0"/>
                <a:ea typeface="+mj-ea"/>
                <a:cs typeface="Arial" pitchFamily="34" charset="0"/>
              </a:rPr>
              <a:t>, outro autor bem conhecido da área </a:t>
            </a:r>
            <a:r>
              <a:rPr lang="pt-BR" sz="3100" b="1" dirty="0" smtClean="0">
                <a:solidFill>
                  <a:srgbClr val="FF9933"/>
                </a:solidFill>
                <a:latin typeface="Arial Black" pitchFamily="34" charset="0"/>
                <a:ea typeface="+mj-ea"/>
                <a:cs typeface="Arial" pitchFamily="34" charset="0"/>
              </a:rPr>
              <a:t>(</a:t>
            </a:r>
            <a:r>
              <a:rPr lang="pt-BR" sz="3100" b="1" dirty="0" smtClean="0">
                <a:solidFill>
                  <a:srgbClr val="FFC000"/>
                </a:solidFill>
                <a:latin typeface="Arial Black" pitchFamily="34" charset="0"/>
                <a:ea typeface="+mj-ea"/>
                <a:cs typeface="Arial" pitchFamily="34" charset="0"/>
              </a:rPr>
              <a:t>Autor do Livro: </a:t>
            </a:r>
            <a:r>
              <a:rPr lang="pt-BR" sz="3100" b="1" dirty="0" err="1" smtClean="0">
                <a:solidFill>
                  <a:srgbClr val="FFC000"/>
                </a:solidFill>
                <a:latin typeface="Arial Black" pitchFamily="34" charset="0"/>
                <a:ea typeface="+mj-ea"/>
                <a:cs typeface="Arial" pitchFamily="34" charset="0"/>
              </a:rPr>
              <a:t>Designing</a:t>
            </a:r>
            <a:r>
              <a:rPr lang="pt-BR" sz="3100" b="1" dirty="0" smtClean="0">
                <a:solidFill>
                  <a:srgbClr val="FFC000"/>
                </a:solidFill>
                <a:latin typeface="Arial Black" pitchFamily="34" charset="0"/>
                <a:ea typeface="+mj-ea"/>
                <a:cs typeface="Arial" pitchFamily="34" charset="0"/>
              </a:rPr>
              <a:t> </a:t>
            </a:r>
            <a:r>
              <a:rPr lang="pt-BR" sz="3100" b="1" dirty="0" err="1" smtClean="0">
                <a:solidFill>
                  <a:srgbClr val="FFC000"/>
                </a:solidFill>
                <a:latin typeface="Arial Black" pitchFamily="34" charset="0"/>
                <a:ea typeface="+mj-ea"/>
                <a:cs typeface="Arial" pitchFamily="34" charset="0"/>
              </a:rPr>
              <a:t>the</a:t>
            </a:r>
            <a:r>
              <a:rPr lang="pt-BR" sz="3100" b="1" dirty="0" smtClean="0">
                <a:solidFill>
                  <a:srgbClr val="FFC000"/>
                </a:solidFill>
                <a:latin typeface="Arial Black" pitchFamily="34" charset="0"/>
                <a:ea typeface="+mj-ea"/>
                <a:cs typeface="Arial" pitchFamily="34" charset="0"/>
              </a:rPr>
              <a:t> </a:t>
            </a:r>
            <a:r>
              <a:rPr lang="pt-BR" sz="3100" b="1" dirty="0" err="1" smtClean="0">
                <a:solidFill>
                  <a:srgbClr val="FFC000"/>
                </a:solidFill>
                <a:latin typeface="Arial Black" pitchFamily="34" charset="0"/>
                <a:ea typeface="+mj-ea"/>
                <a:cs typeface="Arial" pitchFamily="34" charset="0"/>
              </a:rPr>
              <a:t>user</a:t>
            </a:r>
            <a:r>
              <a:rPr lang="pt-BR" sz="3100" b="1" dirty="0" smtClean="0">
                <a:solidFill>
                  <a:srgbClr val="FFC000"/>
                </a:solidFill>
                <a:latin typeface="Arial Black" pitchFamily="34" charset="0"/>
                <a:ea typeface="+mj-ea"/>
                <a:cs typeface="Arial" pitchFamily="34" charset="0"/>
              </a:rPr>
              <a:t> interface</a:t>
            </a:r>
            <a:r>
              <a:rPr lang="pt-BR" sz="3100" b="1" dirty="0" smtClean="0">
                <a:solidFill>
                  <a:srgbClr val="FF9933"/>
                </a:solidFill>
                <a:latin typeface="Arial Black" pitchFamily="34" charset="0"/>
                <a:ea typeface="+mj-ea"/>
                <a:cs typeface="Arial" pitchFamily="34" charset="0"/>
              </a:rPr>
              <a:t>)</a:t>
            </a:r>
            <a:r>
              <a:rPr lang="pt-BR" sz="3100" b="1" dirty="0" smtClean="0">
                <a:solidFill>
                  <a:srgbClr val="FF9933"/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Arial Black" pitchFamily="34" charset="0"/>
                <a:ea typeface="+mj-ea"/>
                <a:cs typeface="Arial" pitchFamily="34" charset="0"/>
              </a:rPr>
              <a:t>, propõe oito “regras de ouro” para o projeto e a avaliação de interfaces que proporcionam usabilidade.</a:t>
            </a:r>
            <a:endParaRPr kumimoji="0" lang="pt-BR" sz="3100" b="1" i="0" u="none" strike="noStrike" kern="1200" cap="none" spc="0" normalizeH="0" baseline="0" noProof="0" dirty="0">
              <a:ln>
                <a:noFill/>
              </a:ln>
              <a:solidFill>
                <a:srgbClr val="FF9933"/>
              </a:solidFill>
              <a:effectLst>
                <a:outerShdw blurRad="38100" dist="25400" dir="5400000" algn="tl" rotWithShape="0">
                  <a:srgbClr val="000000">
                    <a:alpha val="43000"/>
                  </a:srgbClr>
                </a:outerShdw>
              </a:effectLst>
              <a:uLnTx/>
              <a:uFillTx/>
              <a:latin typeface="Arial Black" pitchFamily="34" charset="0"/>
              <a:ea typeface="+mj-ea"/>
              <a:cs typeface="Arial" pitchFamily="34" charset="0"/>
            </a:endParaRPr>
          </a:p>
        </p:txBody>
      </p:sp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Regras de ouro: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Regras de ouro: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0" y="221455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Perseguir a consistência;</a:t>
            </a:r>
          </a:p>
        </p:txBody>
      </p:sp>
      <p:sp>
        <p:nvSpPr>
          <p:cNvPr id="5" name="Retângulo 4"/>
          <p:cNvSpPr/>
          <p:nvPr/>
        </p:nvSpPr>
        <p:spPr>
          <a:xfrm>
            <a:off x="-32" y="3071810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2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Fornecer atalhos;</a:t>
            </a:r>
          </a:p>
        </p:txBody>
      </p:sp>
      <p:sp>
        <p:nvSpPr>
          <p:cNvPr id="6" name="Retângulo 5"/>
          <p:cNvSpPr/>
          <p:nvPr/>
        </p:nvSpPr>
        <p:spPr>
          <a:xfrm>
            <a:off x="-32" y="3929066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3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Fornecer feedback informativo;</a:t>
            </a:r>
          </a:p>
        </p:txBody>
      </p:sp>
      <p:sp>
        <p:nvSpPr>
          <p:cNvPr id="7" name="Retângulo 6"/>
          <p:cNvSpPr/>
          <p:nvPr/>
        </p:nvSpPr>
        <p:spPr>
          <a:xfrm>
            <a:off x="-32" y="490604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4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Marcar o final dos diálogos;</a:t>
            </a: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Regras de ouro: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4" name="Retângulo 3"/>
          <p:cNvSpPr/>
          <p:nvPr/>
        </p:nvSpPr>
        <p:spPr>
          <a:xfrm>
            <a:off x="0" y="2285992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5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Fornecer prevenção e manipulação simples de erros;</a:t>
            </a:r>
          </a:p>
        </p:txBody>
      </p:sp>
      <p:sp>
        <p:nvSpPr>
          <p:cNvPr id="5" name="Retângulo 4"/>
          <p:cNvSpPr/>
          <p:nvPr/>
        </p:nvSpPr>
        <p:spPr>
          <a:xfrm>
            <a:off x="-32" y="3334408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6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Permitir cancelamento das ações;</a:t>
            </a:r>
            <a:endParaRPr lang="pt-BR" sz="2800" b="1" dirty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-32" y="4263102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7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Fornecer controle e iniciativa ao usuário;</a:t>
            </a:r>
          </a:p>
        </p:txBody>
      </p:sp>
      <p:sp>
        <p:nvSpPr>
          <p:cNvPr id="7" name="Retângulo 6"/>
          <p:cNvSpPr/>
          <p:nvPr/>
        </p:nvSpPr>
        <p:spPr>
          <a:xfrm>
            <a:off x="-32" y="5263234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+mj-lt"/>
              <a:buAutoNum type="arabicPeriod" startAt="8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Reduzir a carga de memória de trabalho;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/>
          <p:cNvSpPr/>
          <p:nvPr/>
        </p:nvSpPr>
        <p:spPr>
          <a:xfrm>
            <a:off x="0" y="1717402"/>
            <a:ext cx="91440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Condução;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Carga de trabalho;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Adaptabilidade;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Gestão de erros;</a:t>
            </a:r>
          </a:p>
          <a:p>
            <a:pPr marL="971550" lvl="1" indent="-514350">
              <a:buClr>
                <a:srgbClr val="FF6600"/>
              </a:buClr>
            </a:pPr>
            <a:endParaRPr lang="pt-BR" sz="2800" dirty="0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1717402"/>
            <a:ext cx="91440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§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Visa favorecer principalmente o aprendizado e a utilização do sistema por usuários novatos.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§"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§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Neste contexto a interface deve aconselhar, orientar, informar e conduzir o usuário na interação com o sistema.</a:t>
            </a:r>
          </a:p>
          <a:p>
            <a:pPr marL="1428750" lvl="2" indent="-514350">
              <a:buClr>
                <a:srgbClr val="FF6600"/>
              </a:buClr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0" y="1717402"/>
            <a:ext cx="9144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 – 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Pode ser analisada a partir de quatro dimensões ou sub-critérios: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Convite;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Agrupamento e distinção entre itens;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Legibilidade;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Feedback imediato;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1717402"/>
            <a:ext cx="892975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Convite: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Clr>
                <a:srgbClr val="FF6600"/>
              </a:buClr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Esta qualidade engloba os meios utilizados para levar o usuário a realizar determinadas ações. Também trata das informações que permitem ao usuário identificar o estado ou o contexto no qual ele se encontra na interação, além da ações alternativas, ferramentas de ajuda e o modo de acesso.</a:t>
            </a:r>
            <a:endParaRPr lang="pt-BR" sz="24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928670"/>
            <a:ext cx="9144032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Convite</a:t>
            </a: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:</a:t>
            </a:r>
          </a:p>
          <a:p>
            <a:pPr marL="1428750" lvl="2" indent="-514350">
              <a:buClr>
                <a:srgbClr val="FF6600"/>
              </a:buClr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Uma interface convidativa oferecerá:</a:t>
            </a:r>
          </a:p>
          <a:p>
            <a:pPr marL="1428750" lvl="2" indent="-514350">
              <a:buClr>
                <a:srgbClr val="FF6600"/>
              </a:buClr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Títulos claros para as telas, janelas e caixas de diálogos;</a:t>
            </a: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Informações sobre o preenchimento de um formulário, sobre as entradas esperadas, etc.;</a:t>
            </a: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Opções de ajuda claramente indicadas;</a:t>
            </a:r>
          </a:p>
          <a:p>
            <a:pPr marL="1428750" lvl="2" indent="-514350">
              <a:buClr>
                <a:srgbClr val="FF6600"/>
              </a:buClr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571480"/>
            <a:ext cx="914403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Convite – Exemplo:</a:t>
            </a:r>
          </a:p>
        </p:txBody>
      </p:sp>
      <p:pic>
        <p:nvPicPr>
          <p:cNvPr id="5" name="Imagem 4" descr="Exemplo01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57290" y="1571612"/>
            <a:ext cx="6562725" cy="466725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-428660" y="6286520"/>
            <a:ext cx="95726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FF6600"/>
              </a:buClr>
            </a:pPr>
            <a:r>
              <a:rPr lang="pt-BR" sz="2800" i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000" i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Orientações gerais sobre o preenchimento de um formulário de identificação.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928670"/>
            <a:ext cx="9144032" cy="30777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Agrupamento e distinção de itens:</a:t>
            </a:r>
          </a:p>
          <a:p>
            <a:pPr marL="1428750" lvl="2" indent="-514350">
              <a:buClr>
                <a:srgbClr val="FF6600"/>
              </a:buClr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	Visa proporcionar a rápida compreensão de uma tela pelo usuário.</a:t>
            </a: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rmAutofit fontScale="90000"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648282"/>
            <a:ext cx="9144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Agrupamento e distinção de itens - Exemplo:</a:t>
            </a:r>
          </a:p>
        </p:txBody>
      </p:sp>
      <p:pic>
        <p:nvPicPr>
          <p:cNvPr id="4" name="Imagem 3" descr="Exemplo02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357290" y="1714488"/>
            <a:ext cx="6400800" cy="4533900"/>
          </a:xfrm>
          <a:prstGeom prst="rect">
            <a:avLst/>
          </a:prstGeom>
        </p:spPr>
      </p:pic>
      <p:sp>
        <p:nvSpPr>
          <p:cNvPr id="6" name="Retângulo 5"/>
          <p:cNvSpPr/>
          <p:nvPr/>
        </p:nvSpPr>
        <p:spPr>
          <a:xfrm>
            <a:off x="500034" y="6215082"/>
            <a:ext cx="8001056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FF6600"/>
              </a:buClr>
            </a:pPr>
            <a:r>
              <a:rPr lang="pt-BR" sz="2800" i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000" i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Formulário com opções e campos especialmente organizados.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rmAutofit fontScale="90000"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928670"/>
            <a:ext cx="8858312" cy="37240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Legibilidade: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en-US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en-US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en-US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514350" indent="-514350" algn="just">
              <a:buClr>
                <a:srgbClr val="FF6600"/>
              </a:buClr>
            </a:pPr>
            <a:r>
              <a:rPr lang="pt-BR" sz="24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	</a:t>
            </a:r>
            <a:r>
              <a:rPr lang="pt-BR" sz="26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É uma qualidade a serviço de todos, mas particularmente das pessoas idosas e com problemas de visão.</a:t>
            </a:r>
            <a:endParaRPr lang="pt-BR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rmAutofit fontScale="90000"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571480"/>
            <a:ext cx="9144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Legibilidade - Exemplo:</a:t>
            </a:r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1785926"/>
            <a:ext cx="4658202" cy="4857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tângulo 6"/>
          <p:cNvSpPr/>
          <p:nvPr/>
        </p:nvSpPr>
        <p:spPr>
          <a:xfrm>
            <a:off x="5357818" y="1785926"/>
            <a:ext cx="3786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Contraste negativo;</a:t>
            </a:r>
          </a:p>
        </p:txBody>
      </p:sp>
      <p:sp>
        <p:nvSpPr>
          <p:cNvPr id="8" name="Retângulo 7"/>
          <p:cNvSpPr/>
          <p:nvPr/>
        </p:nvSpPr>
        <p:spPr>
          <a:xfrm>
            <a:off x="5357786" y="4836298"/>
            <a:ext cx="3786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Espaçamento entre linhas;</a:t>
            </a:r>
          </a:p>
        </p:txBody>
      </p:sp>
      <p:sp>
        <p:nvSpPr>
          <p:cNvPr id="9" name="Retângulo 8"/>
          <p:cNvSpPr/>
          <p:nvPr/>
        </p:nvSpPr>
        <p:spPr>
          <a:xfrm>
            <a:off x="5357818" y="3264662"/>
            <a:ext cx="378621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Tamanho da fonte;</a:t>
            </a:r>
          </a:p>
        </p:txBody>
      </p:sp>
      <p:sp>
        <p:nvSpPr>
          <p:cNvPr id="10" name="Retângulo 9"/>
          <p:cNvSpPr/>
          <p:nvPr/>
        </p:nvSpPr>
        <p:spPr>
          <a:xfrm>
            <a:off x="5357786" y="2363924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Letras claras sobre um fundo escuro;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5357786" y="4000504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Espaçamento entre palavras;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357818" y="5457782"/>
            <a:ext cx="37862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 Espaçamento entre parágrafos;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 build="p"/>
      <p:bldP spid="11" grpId="0"/>
      <p:bldP spid="1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4616" y="1643050"/>
            <a:ext cx="6793532" cy="51100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Título 1"/>
          <p:cNvSpPr txBox="1">
            <a:spLocks/>
          </p:cNvSpPr>
          <p:nvPr/>
        </p:nvSpPr>
        <p:spPr>
          <a:xfrm>
            <a:off x="241578" y="-24"/>
            <a:ext cx="8902422" cy="60925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Critérios Ergonômicos: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16" name="Retângulo 15"/>
          <p:cNvSpPr/>
          <p:nvPr/>
        </p:nvSpPr>
        <p:spPr>
          <a:xfrm>
            <a:off x="-32" y="571480"/>
            <a:ext cx="9144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Legibilidade - Exemplo: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714356"/>
            <a:ext cx="8929750" cy="57246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Feedback imediato: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Está a serviço de todos, porém os usuários mais novatos precisarão mais dessa qualidade.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Tais fatores possibilitam ao usuário ter melhor entendimento sobre o funcionamento do sistema.</a:t>
            </a: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endParaRPr lang="pt-BR" sz="26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São importantes para estabelecer satisfação e confiança.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571480"/>
            <a:ext cx="9144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Feedback imediato - Exemplo: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71736" y="1714488"/>
            <a:ext cx="4071966" cy="38963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tângulo 4"/>
          <p:cNvSpPr/>
          <p:nvPr/>
        </p:nvSpPr>
        <p:spPr>
          <a:xfrm>
            <a:off x="-428660" y="6000768"/>
            <a:ext cx="957269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FF6600"/>
              </a:buClr>
            </a:pPr>
            <a:r>
              <a:rPr lang="pt-BR" sz="2800" i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000" i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Tela que indica ao usuário que um tratamento demorado está sendo realizado.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241578" y="-24"/>
            <a:ext cx="8902422" cy="60925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Critérios Ergonômicos: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-32" y="928670"/>
            <a:ext cx="9144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Feedback imediato - Exemplo: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090862" y="1978798"/>
            <a:ext cx="2695584" cy="40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Retângulo 9"/>
          <p:cNvSpPr/>
          <p:nvPr/>
        </p:nvSpPr>
        <p:spPr>
          <a:xfrm>
            <a:off x="214282" y="6049052"/>
            <a:ext cx="792961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ctr">
              <a:buClr>
                <a:srgbClr val="FF6600"/>
              </a:buClr>
            </a:pPr>
            <a:r>
              <a:rPr lang="pt-BR" sz="2800" i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  <a:r>
              <a:rPr lang="pt-BR" sz="2000" i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Tela que indica ao usuário o resultado do processo.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1"/>
          <p:cNvSpPr txBox="1">
            <a:spLocks/>
          </p:cNvSpPr>
          <p:nvPr/>
        </p:nvSpPr>
        <p:spPr>
          <a:xfrm>
            <a:off x="241578" y="-24"/>
            <a:ext cx="8902422" cy="609250"/>
          </a:xfrm>
          <a:prstGeom prst="rect">
            <a:avLst/>
          </a:prstGeom>
        </p:spPr>
        <p:txBody>
          <a:bodyPr vert="horz" lIns="0" rIns="0" bIns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Critérios Ergonômicos: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8" name="Retângulo 7"/>
          <p:cNvSpPr/>
          <p:nvPr/>
        </p:nvSpPr>
        <p:spPr>
          <a:xfrm>
            <a:off x="-32" y="571480"/>
            <a:ext cx="914403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Condução</a:t>
            </a: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6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Feedback imediato:</a:t>
            </a:r>
          </a:p>
        </p:txBody>
      </p:sp>
      <p:sp>
        <p:nvSpPr>
          <p:cNvPr id="6" name="Retângulo 5"/>
          <p:cNvSpPr/>
          <p:nvPr/>
        </p:nvSpPr>
        <p:spPr>
          <a:xfrm>
            <a:off x="0" y="1714488"/>
            <a:ext cx="9144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Clr>
                <a:srgbClr val="FF6600"/>
              </a:buClr>
            </a:pPr>
            <a:r>
              <a:rPr lang="pt-BR" sz="24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O Feedback às ações do usuário é muito importante para a qualidade das interações. Tempo de reação sugerido:</a:t>
            </a:r>
          </a:p>
        </p:txBody>
      </p:sp>
      <p:sp>
        <p:nvSpPr>
          <p:cNvPr id="11" name="Retângulo 10"/>
          <p:cNvSpPr/>
          <p:nvPr/>
        </p:nvSpPr>
        <p:spPr>
          <a:xfrm>
            <a:off x="-32" y="3475025"/>
            <a:ext cx="9144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</a:t>
            </a:r>
          </a:p>
        </p:txBody>
      </p:sp>
      <p:sp>
        <p:nvSpPr>
          <p:cNvPr id="13" name="Retângulo 12"/>
          <p:cNvSpPr/>
          <p:nvPr/>
        </p:nvSpPr>
        <p:spPr>
          <a:xfrm>
            <a:off x="13350" y="2857496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Para ecoar os caracteres digitados:</a:t>
            </a: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150 milésimos de segundo </a:t>
            </a:r>
            <a:endParaRPr lang="pt-BR" sz="24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4" name="Retângulo 13"/>
          <p:cNvSpPr/>
          <p:nvPr/>
        </p:nvSpPr>
        <p:spPr>
          <a:xfrm>
            <a:off x="-32" y="3951091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Movimentação entre campos:</a:t>
            </a: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250 milésimos de segundo </a:t>
            </a:r>
            <a:endParaRPr lang="pt-BR" sz="24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Retângulo 14"/>
          <p:cNvSpPr/>
          <p:nvPr/>
        </p:nvSpPr>
        <p:spPr>
          <a:xfrm>
            <a:off x="13350" y="5332413"/>
            <a:ext cx="9144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Movimentação do cursor na tela:</a:t>
            </a: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100 milésimos de segundo </a:t>
            </a:r>
            <a:endParaRPr lang="pt-BR" sz="24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/>
      <p:bldP spid="14" grpId="0"/>
      <p:bldP spid="15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928670"/>
            <a:ext cx="8858312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Carga de trabalho: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Clr>
                <a:srgbClr val="FF6600"/>
              </a:buClr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	Este critério se aplica a um contexto de trabalho intenso e repetitivo, no qual os usuários precisarão de interfaces econômicas, isto é, que lhes economizem leitura e memorização desnecessária.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928670"/>
            <a:ext cx="892975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Carga de trabalho: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Apresentar os títulos (Telas, janelas, etc...), rótulos (Campos, Botões) e denominações curtas;</a:t>
            </a:r>
          </a:p>
          <a:p>
            <a:pPr marL="971550" lvl="1" indent="-514350">
              <a:buClr>
                <a:srgbClr val="FF6600"/>
              </a:buClr>
              <a:buFont typeface="Arial" pitchFamily="34" charset="0"/>
              <a:buChar char="•"/>
            </a:pPr>
            <a:endParaRPr lang="pt-BR" sz="20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Fornecer valores Default (Para campos de dados, listas, check-box).</a:t>
            </a:r>
          </a:p>
          <a:p>
            <a:pPr marL="971550" lvl="1" indent="-514350" algn="just">
              <a:buClr>
                <a:srgbClr val="FF6600"/>
              </a:buClr>
              <a:buFont typeface="Arial" pitchFamily="34" charset="0"/>
              <a:buChar char="•"/>
            </a:pPr>
            <a:endParaRPr lang="pt-BR" sz="20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Fornecer o preenchimento automático de virgulas, pontos, decimais, etc...</a:t>
            </a:r>
          </a:p>
          <a:p>
            <a:pPr marL="971550" lvl="1" indent="-514350" algn="just">
              <a:buClr>
                <a:srgbClr val="FF6600"/>
              </a:buClr>
              <a:buFont typeface="Arial" pitchFamily="34" charset="0"/>
              <a:buChar char="•"/>
            </a:pPr>
            <a:endParaRPr lang="pt-BR" sz="20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Apresentar somente os itens que estão relacionados a tarefa(Remover o restante da tela).</a:t>
            </a:r>
          </a:p>
          <a:p>
            <a:pPr marL="971550" lvl="1" indent="-514350" algn="just">
              <a:buClr>
                <a:srgbClr val="FF6600"/>
              </a:buClr>
              <a:buFont typeface="Arial" pitchFamily="34" charset="0"/>
              <a:buChar char="•"/>
            </a:pPr>
            <a:endParaRPr lang="pt-BR" sz="20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 algn="just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0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Não forçar o usuário a trazer mentalmente dados de uma tela para outra.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928670"/>
            <a:ext cx="885831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2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Adaptabilidade: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É uma qualidade particularmente esperada em sistema que o publico alvo é vasto e variado.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642918"/>
            <a:ext cx="8858312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2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Adaptabilidade: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 interface deve propor maneiras variadas de realizar uma tarefa, deixando ao usuário o direito de escolha. Exemplo:</a:t>
            </a:r>
          </a:p>
          <a:p>
            <a:pPr marL="971550" lvl="1" indent="-514350">
              <a:buClr>
                <a:srgbClr val="FF6600"/>
              </a:buClr>
              <a:buFont typeface="Arial" pitchFamily="34" charset="0"/>
              <a:buChar char="•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ü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Diferentes maneiras de realizar a entrada de dados( Digitação, seleção).</a:t>
            </a:r>
          </a:p>
          <a:p>
            <a:pPr marL="1428750" lvl="2" indent="-514350">
              <a:buClr>
                <a:srgbClr val="FF6600"/>
              </a:buClr>
              <a:buFont typeface="Arial" pitchFamily="34" charset="0"/>
              <a:buChar char="•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1428750" lvl="2" indent="-514350">
              <a:buClr>
                <a:srgbClr val="FF6600"/>
              </a:buClr>
              <a:buFont typeface="Wingdings" pitchFamily="2" charset="2"/>
              <a:buChar char="ü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Diferentes caminhos para chegar a uma funcionalidade freqüentemente utilizada(ícones na barra de ferramenta, opção em um painel de menu, teclas de atalho).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98180" y="1714488"/>
            <a:ext cx="313372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912956" y="1714488"/>
            <a:ext cx="3133725" cy="4000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-32" y="642918"/>
            <a:ext cx="885831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2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Adaptabilidade – Exemplos: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642918"/>
            <a:ext cx="8858312" cy="66171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2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Gestão de Erros: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pt-BR" sz="2800" dirty="0" smtClean="0">
                <a:latin typeface="Arial" pitchFamily="34" charset="0"/>
                <a:cs typeface="Arial" pitchFamily="34" charset="0"/>
              </a:rPr>
              <a:t>A gestão de erros diz respeito a todos os mecanismos que permitem evitar ou reduzir a ocorrências de erros e que favoreçam sua correção.</a:t>
            </a: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Arial" pitchFamily="34" charset="0"/>
              <a:buChar char="•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642918"/>
            <a:ext cx="8858312" cy="58169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2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Gestão de Erros: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/>
            <a:r>
              <a:rPr lang="pt-BR" sz="2800" b="1" dirty="0" smtClean="0">
                <a:latin typeface="Arial" pitchFamily="34" charset="0"/>
                <a:cs typeface="Arial" pitchFamily="34" charset="0"/>
              </a:rPr>
              <a:t>Uma interface que protege uma interação contra erros:</a:t>
            </a:r>
          </a:p>
          <a:p>
            <a:pPr lvl="2"/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	</a:t>
            </a: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Informa o usuário sobre o risco de perda de 	dados não gravados;</a:t>
            </a:r>
          </a:p>
          <a:p>
            <a:pPr lvl="1">
              <a:buClr>
                <a:srgbClr val="FF6600"/>
              </a:buClr>
              <a:buFont typeface="Arial" pitchFamily="34" charset="0"/>
              <a:buChar char="•"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	Não oferece um comando destrutivo como opção default;</a:t>
            </a:r>
          </a:p>
          <a:p>
            <a:pPr lvl="1">
              <a:buClr>
                <a:srgbClr val="FF6600"/>
              </a:buClr>
              <a:buFont typeface="Arial" pitchFamily="34" charset="0"/>
              <a:buChar char="•"/>
            </a:pPr>
            <a:endParaRPr lang="pt-BR" sz="2800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buClr>
                <a:srgbClr val="FF6600"/>
              </a:buClr>
              <a:buFont typeface="Arial" pitchFamily="34" charset="0"/>
              <a:buChar char="•"/>
            </a:pPr>
            <a:r>
              <a:rPr lang="pt-BR" sz="2800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 	Detecta os erros  no momento da inserção dos dados, em vez de deixar para o final.</a:t>
            </a:r>
            <a:endParaRPr lang="pt-BR" sz="28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642918"/>
            <a:ext cx="88583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2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Gestão de Erros - Exemplos: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28832" y="2228862"/>
            <a:ext cx="5429250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1578" y="-24"/>
            <a:ext cx="8902422" cy="609250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Critérios Ergonômicos: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642918"/>
            <a:ext cx="88583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r>
              <a:rPr lang="pt-BR" sz="3200" b="1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Gestão de Erros - Exemplos:</a:t>
            </a:r>
          </a:p>
          <a:p>
            <a:pPr marL="971550" lvl="1" indent="-514350">
              <a:buClr>
                <a:srgbClr val="FF6600"/>
              </a:buClr>
              <a:buFont typeface="Wingdings" pitchFamily="2" charset="2"/>
              <a:buChar char="Ø"/>
            </a:pPr>
            <a:endParaRPr lang="pt-BR" sz="3200" b="1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Imagem 3" descr="Exemplo03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19225" y="1738312"/>
            <a:ext cx="6305550" cy="338137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6" name="Imagem 5" descr="Primeir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387" y="2552700"/>
            <a:ext cx="8277225" cy="17526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Segunda.bmp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2337114"/>
            <a:ext cx="9144000" cy="2183772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Terceir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262513"/>
            <a:ext cx="9144000" cy="2332973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Quart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060047"/>
            <a:ext cx="9144000" cy="2737906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Quint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452934"/>
            <a:ext cx="9144000" cy="3952131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Sext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691580"/>
            <a:ext cx="9144000" cy="1474839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Setim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1610591"/>
            <a:ext cx="9144000" cy="3636818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Oitav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387" y="2390775"/>
            <a:ext cx="8277225" cy="207645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Non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715473"/>
            <a:ext cx="9144000" cy="1427053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Decim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2368265"/>
            <a:ext cx="9144000" cy="212147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Decima primeir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387" y="2428875"/>
            <a:ext cx="9039225" cy="200025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Decima segund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700" y="2528887"/>
            <a:ext cx="8610600" cy="18002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Decima terceir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387" y="1500187"/>
            <a:ext cx="8277225" cy="3857625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Decima quart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387" y="2190750"/>
            <a:ext cx="8277225" cy="24765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>
            <a:spLocks noGrp="1"/>
          </p:cNvSpPr>
          <p:nvPr>
            <p:ph type="ctrTitle"/>
          </p:nvPr>
        </p:nvSpPr>
        <p:spPr>
          <a:xfrm>
            <a:off x="98734" y="0"/>
            <a:ext cx="8902422" cy="1252168"/>
          </a:xfrm>
        </p:spPr>
        <p:txBody>
          <a:bodyPr>
            <a:noAutofit/>
          </a:bodyPr>
          <a:lstStyle/>
          <a:p>
            <a:pPr algn="l"/>
            <a:r>
              <a:rPr lang="pt-BR" sz="4000" dirty="0" smtClean="0">
                <a:solidFill>
                  <a:srgbClr val="FFFF00"/>
                </a:solidFill>
                <a:effectLst/>
                <a:latin typeface="Arial Black" pitchFamily="34" charset="0"/>
              </a:rPr>
              <a:t>Exemplo de tela que não proporciona usabilidade:</a:t>
            </a:r>
            <a:endParaRPr lang="pt-BR" sz="4000" b="1" dirty="0">
              <a:solidFill>
                <a:srgbClr val="FFFF00"/>
              </a:solidFill>
              <a:effectLst/>
              <a:latin typeface="Arial Black" pitchFamily="34" charset="0"/>
            </a:endParaRPr>
          </a:p>
        </p:txBody>
      </p:sp>
      <p:pic>
        <p:nvPicPr>
          <p:cNvPr id="3" name="Imagem 2" descr="Decima quinta.bmp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3387" y="1257300"/>
            <a:ext cx="8277225" cy="4343400"/>
          </a:xfrm>
          <a:prstGeom prst="rect">
            <a:avLst/>
          </a:prstGeom>
        </p:spPr>
      </p:pic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 txBox="1">
            <a:spLocks/>
          </p:cNvSpPr>
          <p:nvPr/>
        </p:nvSpPr>
        <p:spPr>
          <a:xfrm>
            <a:off x="241578" y="-24"/>
            <a:ext cx="8902422" cy="609250"/>
          </a:xfrm>
          <a:prstGeom prst="rect">
            <a:avLst/>
          </a:prstGeom>
        </p:spPr>
        <p:txBody>
          <a:bodyPr vert="horz" lIns="0" rIns="0" bIns="0" anchor="b">
            <a:normAutofit fontScale="97500"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 Black" pitchFamily="34" charset="0"/>
                <a:ea typeface="+mj-ea"/>
                <a:cs typeface="+mj-cs"/>
              </a:rPr>
              <a:t>Referências Bibliográficas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Arial Black" pitchFamily="34" charset="0"/>
              <a:ea typeface="+mj-ea"/>
              <a:cs typeface="+mj-cs"/>
            </a:endParaRPr>
          </a:p>
        </p:txBody>
      </p:sp>
      <p:sp>
        <p:nvSpPr>
          <p:cNvPr id="3" name="Retângulo 2"/>
          <p:cNvSpPr/>
          <p:nvPr/>
        </p:nvSpPr>
        <p:spPr>
          <a:xfrm>
            <a:off x="-32" y="1785642"/>
            <a:ext cx="9144032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Ergonomia e Usabilidade – Conhecimento, Métodos e aplicações – Walter Cybis</a:t>
            </a:r>
          </a:p>
          <a:p>
            <a:endParaRPr lang="pt-BR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http://usabilidoido.com.br/as_10_heuristicas_de_nielsen_.html</a:t>
            </a:r>
          </a:p>
          <a:p>
            <a:endParaRPr lang="pt-BR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http://www.podcast1.com.br/programas.</a:t>
            </a:r>
            <a:r>
              <a:rPr lang="pt-BR" dirty="0" err="1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php</a:t>
            </a:r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?</a:t>
            </a:r>
            <a:r>
              <a:rPr lang="pt-BR" dirty="0" err="1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codigo_canal</a:t>
            </a:r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=2203&amp;</a:t>
            </a:r>
            <a:r>
              <a:rPr lang="pt-BR" dirty="0" err="1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numero_programa</a:t>
            </a:r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=1</a:t>
            </a:r>
          </a:p>
          <a:p>
            <a:endParaRPr lang="pt-BR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http://www.podcastone.com.br/canal.</a:t>
            </a:r>
            <a:r>
              <a:rPr lang="pt-BR" dirty="0" err="1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php</a:t>
            </a:r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?</a:t>
            </a:r>
            <a:r>
              <a:rPr lang="pt-BR" dirty="0" err="1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codigo_canal</a:t>
            </a:r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=2171</a:t>
            </a:r>
          </a:p>
          <a:p>
            <a:endParaRPr lang="pt-BR" dirty="0" smtClean="0">
              <a:solidFill>
                <a:schemeClr val="accent6">
                  <a:lumMod val="20000"/>
                  <a:lumOff val="8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pt-BR" dirty="0" smtClean="0">
                <a:solidFill>
                  <a:schemeClr val="accent6">
                    <a:lumMod val="20000"/>
                    <a:lumOff val="80000"/>
                  </a:schemeClr>
                </a:solidFill>
                <a:latin typeface="Arial" pitchFamily="34" charset="0"/>
                <a:cs typeface="Arial" pitchFamily="34" charset="0"/>
              </a:rPr>
              <a:t>http://www.pinceladasdaweb.com.br/blog/author/Pedro/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uxo">
  <a:themeElements>
    <a:clrScheme name="Fluxo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uxo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uxo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1336</TotalTime>
  <Words>1536</Words>
  <Application>Microsoft Office PowerPoint</Application>
  <PresentationFormat>Apresentação na tela (4:3)</PresentationFormat>
  <Paragraphs>299</Paragraphs>
  <Slides>58</Slides>
  <Notes>13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58</vt:i4>
      </vt:variant>
    </vt:vector>
  </HeadingPairs>
  <TitlesOfParts>
    <vt:vector size="65" baseType="lpstr">
      <vt:lpstr>Arial</vt:lpstr>
      <vt:lpstr>Arial Black</vt:lpstr>
      <vt:lpstr>Constantia</vt:lpstr>
      <vt:lpstr>Wingdings</vt:lpstr>
      <vt:lpstr>Wingdings 2</vt:lpstr>
      <vt:lpstr>Calibri</vt:lpstr>
      <vt:lpstr>Fluxo</vt:lpstr>
      <vt:lpstr>ERGONOMIA  E USABILIDADE</vt:lpstr>
      <vt:lpstr>O autor: Walter Cybis</vt:lpstr>
      <vt:lpstr>Slide 3</vt:lpstr>
      <vt:lpstr>Slide 4</vt:lpstr>
      <vt:lpstr>O que é Usabilidade?</vt:lpstr>
      <vt:lpstr>Segundo o autor:</vt:lpstr>
      <vt:lpstr>Segundo a norma ISO – 9241:</vt:lpstr>
      <vt:lpstr>Introdução à Usabilidade:</vt:lpstr>
      <vt:lpstr>Slide 9</vt:lpstr>
      <vt:lpstr>Objetivos dos sistemas ergonômicos:</vt:lpstr>
      <vt:lpstr>Benefícios: </vt:lpstr>
      <vt:lpstr>Desenvolvimento de interfaces ergonômicas:</vt:lpstr>
      <vt:lpstr>Princípios ergonômicos para IHC:</vt:lpstr>
      <vt:lpstr>Heurísticas de usabilidade </vt:lpstr>
      <vt:lpstr>Heurísticas de usabilidade </vt:lpstr>
      <vt:lpstr>Regras de ouro:</vt:lpstr>
      <vt:lpstr>Regras de ouro:</vt:lpstr>
      <vt:lpstr>Regras de ouro: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Slide 29</vt:lpstr>
      <vt:lpstr>Critérios Ergonômicos:</vt:lpstr>
      <vt:lpstr>Critérios Ergonômicos:</vt:lpstr>
      <vt:lpstr>Slide 32</vt:lpstr>
      <vt:lpstr>Slide 33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Critérios Ergonômicos: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Exemplo de tela que não proporciona usabilidade:</vt:lpstr>
      <vt:lpstr>Slide 58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Usabilidade</dc:title>
  <dc:creator>Luiz</dc:creator>
  <cp:lastModifiedBy>Bruno</cp:lastModifiedBy>
  <cp:revision>386</cp:revision>
  <dcterms:created xsi:type="dcterms:W3CDTF">2010-02-23T23:42:27Z</dcterms:created>
  <dcterms:modified xsi:type="dcterms:W3CDTF">2015-05-27T23:16:06Z</dcterms:modified>
</cp:coreProperties>
</file>