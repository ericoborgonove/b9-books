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0" r:id="rId5"/>
    <p:sldId id="261" r:id="rId6"/>
    <p:sldId id="268" r:id="rId7"/>
    <p:sldId id="267" r:id="rId8"/>
    <p:sldId id="269" r:id="rId9"/>
    <p:sldId id="270" r:id="rId10"/>
    <p:sldId id="272" r:id="rId11"/>
    <p:sldId id="262" r:id="rId12"/>
    <p:sldId id="273" r:id="rId13"/>
    <p:sldId id="263" r:id="rId14"/>
    <p:sldId id="274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29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9C8FC2A-C15F-46D1-A8D0-111BD34F1D62}" type="datetime1">
              <a:rPr lang="pt-BR" smtClean="0"/>
              <a:t>01/02/2018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6438032-B9E0-494D-85BA-B474F0D5401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39185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12066D4-F417-48D9-8428-8498761F08DE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 smtClean="0"/>
              <a:t>Clique para editar o texto Mestre</a:t>
            </a:r>
          </a:p>
          <a:p>
            <a:pPr lvl="1" rtl="0"/>
            <a:r>
              <a:rPr lang="pt-BR" noProof="0" dirty="0" smtClean="0"/>
              <a:t>Segundo nível</a:t>
            </a:r>
          </a:p>
          <a:p>
            <a:pPr lvl="2" rtl="0"/>
            <a:r>
              <a:rPr lang="pt-BR" noProof="0" dirty="0" smtClean="0"/>
              <a:t>Terceiro nível</a:t>
            </a:r>
          </a:p>
          <a:p>
            <a:pPr lvl="3" rtl="0"/>
            <a:r>
              <a:rPr lang="pt-BR" noProof="0" dirty="0" smtClean="0"/>
              <a:t>Quarto nível</a:t>
            </a:r>
          </a:p>
          <a:p>
            <a:pPr lvl="4" rtl="0"/>
            <a:r>
              <a:rPr lang="pt-BR" noProof="0" dirty="0" smtClean="0"/>
              <a:t>Quinto nível</a:t>
            </a:r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764AD8-5229-44E4-9BAC-D1182B1E95E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958918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7764AD8-5229-44E4-9BAC-D1182B1E95E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297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1097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675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741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7299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2013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830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1271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1751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3275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4716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97764AD8-5229-44E4-9BAC-D1182B1E95E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059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7764AD8-5229-44E4-9BAC-D1182B1E95E5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560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7764AD8-5229-44E4-9BAC-D1182B1E95E5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853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pic>
        <p:nvPicPr>
          <p:cNvPr id="12" name="Imagem 11" descr="Mãos sobre um teclado em close-up à esquerda e rostos de três pessoas em close-up à direita"/>
          <p:cNvPicPr>
            <a:picLocks noChangeAspect="1"/>
          </p:cNvPicPr>
          <p:nvPr userDrawn="1"/>
        </p:nvPicPr>
        <p:blipFill rotWithShape="1">
          <a:blip r:embed="rId2"/>
          <a:srcRect t="5040" b="1624"/>
          <a:stretch/>
        </p:blipFill>
        <p:spPr>
          <a:xfrm>
            <a:off x="3048" y="1"/>
            <a:ext cx="12188952" cy="6400800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sp>
        <p:nvSpPr>
          <p:cNvPr id="2" name="Título 1"/>
          <p:cNvSpPr>
            <a:spLocks noGrp="1"/>
          </p:cNvSpPr>
          <p:nvPr userDrawn="1">
            <p:ph type="ctrTitle"/>
          </p:nvPr>
        </p:nvSpPr>
        <p:spPr>
          <a:xfrm>
            <a:off x="76200" y="2295843"/>
            <a:ext cx="5970037" cy="2387600"/>
          </a:xfrm>
        </p:spPr>
        <p:txBody>
          <a:bodyPr rtlCol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 userDrawn="1">
            <p:ph type="subTitle" idx="1"/>
          </p:nvPr>
        </p:nvSpPr>
        <p:spPr>
          <a:xfrm>
            <a:off x="76200" y="4856481"/>
            <a:ext cx="5970037" cy="1655762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 smtClean="0"/>
              <a:t>Clique para editar o estilo do subtítulo mestre</a:t>
            </a:r>
            <a:endParaRPr lang="pt-BR" noProof="0" dirty="0"/>
          </a:p>
        </p:txBody>
      </p:sp>
      <p:sp>
        <p:nvSpPr>
          <p:cNvPr id="10" name="Espaço reservado para data 3"/>
          <p:cNvSpPr>
            <a:spLocks noGrp="1"/>
          </p:cNvSpPr>
          <p:nvPr userDrawn="1"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rtl="0"/>
            <a:fld id="{9607F6FA-7D7A-4807-A0A6-2BECC0B6AB0D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14" name="Espaço reservado para rodapé 4"/>
          <p:cNvSpPr>
            <a:spLocks noGrp="1"/>
          </p:cNvSpPr>
          <p:nvPr userDrawn="1"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15" name="Espaço reservado para número do slide 5"/>
          <p:cNvSpPr>
            <a:spLocks noGrp="1"/>
          </p:cNvSpPr>
          <p:nvPr userDrawn="1"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rtl="0"/>
            <a:fld id="{0C8C4CCD-1362-4CC7-BA2D-0BEF6B3ABFE9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080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5D41C3-821D-4E35-B371-189B0D83FCCB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1006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A0640F-D7DB-4A5D-ACAD-2A34B2568A29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882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933699"/>
            <a:ext cx="5181600" cy="3243263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933699"/>
            <a:ext cx="5181600" cy="3243263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10B22D-34A2-435A-A763-07AAE75C3565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2684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447800"/>
            <a:ext cx="10515600" cy="1143000"/>
          </a:xfrm>
        </p:spPr>
        <p:txBody>
          <a:bodyPr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2788737"/>
            <a:ext cx="5156200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1850" y="3493588"/>
            <a:ext cx="5156200" cy="2678612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89663" y="2788737"/>
            <a:ext cx="5157787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89663" y="3493588"/>
            <a:ext cx="5157787" cy="2678612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716DF4-170A-407D-A599-9C433E11B55F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9" name="Espaço reservado para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2810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98FCA-EA3D-46F7-BDEB-70BB0FA6EDDA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5" name="Espaço reservado para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4530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9F4D2F-8408-45E1-B59C-BA852200BC70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000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14478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1817649"/>
            <a:ext cx="6172200" cy="4355629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3133494"/>
            <a:ext cx="3932237" cy="3062086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EC8A38-F470-4B21-9F8D-8447E1809F28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2563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14478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>
          <a:xfrm>
            <a:off x="5183188" y="1447800"/>
            <a:ext cx="6172200" cy="472440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 smtClean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3133494"/>
            <a:ext cx="3932237" cy="3038706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B8DF39-A959-49E3-98A1-C14BD677E912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7" name="Espaço reservado para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7856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2933700"/>
            <a:ext cx="10515600" cy="3221890"/>
          </a:xfrm>
        </p:spPr>
        <p:txBody>
          <a:bodyPr vert="eaVert" rtlCol="0"/>
          <a:lstStyle/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190E8A-2798-49A4-B79F-CF3DBBCC8E53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0455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1447799"/>
            <a:ext cx="2628900" cy="4729163"/>
          </a:xfrm>
        </p:spPr>
        <p:txBody>
          <a:bodyPr vert="eaVert"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447799"/>
            <a:ext cx="7734300" cy="4729163"/>
          </a:xfrm>
        </p:spPr>
        <p:txBody>
          <a:bodyPr vert="eaVert" rtlCol="0"/>
          <a:lstStyle/>
          <a:p>
            <a:pPr lvl="0" rtl="0"/>
            <a:r>
              <a:rPr lang="pt-BR" noProof="0" smtClean="0"/>
              <a:t>Clique para editar o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E5BF11-5C79-4DED-8547-57AB2F3A79A4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C8C4CCD-1362-4CC7-BA2D-0BEF6B3ABFE9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2103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3048" y="-5407"/>
            <a:ext cx="12188952" cy="6863407"/>
            <a:chOff x="3048" y="-5407"/>
            <a:chExt cx="12188952" cy="6863407"/>
          </a:xfrm>
        </p:grpSpPr>
        <p:sp>
          <p:nvSpPr>
            <p:cNvPr id="12" name="Retângulo 11"/>
            <p:cNvSpPr/>
            <p:nvPr userDrawn="1"/>
          </p:nvSpPr>
          <p:spPr>
            <a:xfrm>
              <a:off x="3048" y="6311900"/>
              <a:ext cx="12188952" cy="5461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3" name="Retângulo 12"/>
            <p:cNvSpPr/>
            <p:nvPr userDrawn="1"/>
          </p:nvSpPr>
          <p:spPr>
            <a:xfrm>
              <a:off x="3048" y="-5407"/>
              <a:ext cx="12188952" cy="136730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pic>
        <p:nvPicPr>
          <p:cNvPr id="14" name="Imagem 13" descr="Mãos sobre um teclado em close-up à esquerda e rostos de três pessoas em close-up à direita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740"/>
          <a:stretch/>
        </p:blipFill>
        <p:spPr>
          <a:xfrm>
            <a:off x="2620347" y="-7553"/>
            <a:ext cx="6964163" cy="13716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Espaço reservado para título 1"/>
          <p:cNvSpPr>
            <a:spLocks noGrp="1"/>
          </p:cNvSpPr>
          <p:nvPr userDrawn="1">
            <p:ph type="title"/>
          </p:nvPr>
        </p:nvSpPr>
        <p:spPr>
          <a:xfrm>
            <a:off x="838200" y="1447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 smtClean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 userDrawn="1">
            <p:ph type="body" idx="1"/>
          </p:nvPr>
        </p:nvSpPr>
        <p:spPr>
          <a:xfrm>
            <a:off x="838200" y="2955073"/>
            <a:ext cx="10515600" cy="322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 smtClean="0"/>
              <a:t>Clique para editar o texto Mestre</a:t>
            </a:r>
          </a:p>
          <a:p>
            <a:pPr lvl="1" rtl="0"/>
            <a:r>
              <a:rPr lang="pt-BR" noProof="0" dirty="0" smtClean="0"/>
              <a:t>Segundo nível</a:t>
            </a:r>
          </a:p>
          <a:p>
            <a:pPr lvl="2" rtl="0"/>
            <a:r>
              <a:rPr lang="pt-BR" noProof="0" dirty="0" smtClean="0"/>
              <a:t>Terceiro nível</a:t>
            </a:r>
          </a:p>
          <a:p>
            <a:pPr lvl="3" rtl="0"/>
            <a:r>
              <a:rPr lang="pt-BR" noProof="0" dirty="0" smtClean="0"/>
              <a:t>Quarto nível</a:t>
            </a:r>
          </a:p>
          <a:p>
            <a:pPr lvl="4" rtl="0"/>
            <a:r>
              <a:rPr lang="pt-BR" noProof="0" dirty="0" smtClean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 userDrawn="1"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rtl="0"/>
            <a:fld id="{C0FC42AB-8F84-448C-BA62-414E0ED8B1CB}" type="datetime1">
              <a:rPr lang="pt-BR" noProof="0" smtClean="0"/>
              <a:t>01/02/2018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 userDrawn="1"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rtl="0"/>
            <a:r>
              <a:rPr lang="pt-BR" noProof="0" dirty="0" smtClean="0"/>
              <a:t>Adicionar um rodapé</a:t>
            </a:r>
            <a:endParaRPr lang="pt-BR" noProof="0" dirty="0"/>
          </a:p>
        </p:txBody>
      </p:sp>
      <p:sp>
        <p:nvSpPr>
          <p:cNvPr id="6" name="Espaço reservado para número do slide 5"/>
          <p:cNvSpPr>
            <a:spLocks noGrp="1"/>
          </p:cNvSpPr>
          <p:nvPr userDrawn="1"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rtl="0"/>
            <a:fld id="{0C8C4CCD-1362-4CC7-BA2D-0BEF6B3ABFE9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780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1848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912" userDrawn="1">
          <p15:clr>
            <a:srgbClr val="F26B43"/>
          </p15:clr>
        </p15:guide>
        <p15:guide id="3" orient="horz" pos="3888" userDrawn="1">
          <p15:clr>
            <a:srgbClr val="F26B43"/>
          </p15:clr>
        </p15:guide>
        <p15:guide id="4" pos="648" userDrawn="1">
          <p15:clr>
            <a:srgbClr val="F26B43"/>
          </p15:clr>
        </p15:guide>
        <p15:guide id="5" pos="7152" userDrawn="1">
          <p15:clr>
            <a:srgbClr val="F26B43"/>
          </p15:clr>
        </p15:guide>
        <p15:guide id="6" orient="horz" pos="4104" userDrawn="1">
          <p15:clr>
            <a:srgbClr val="F26B43"/>
          </p15:clr>
        </p15:guide>
        <p15:guide id="7" orient="horz" pos="4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 bwMode="ltGray"/>
        <p:txBody>
          <a:bodyPr rtlCol="0"/>
          <a:lstStyle/>
          <a:p>
            <a:pPr rtl="0"/>
            <a:r>
              <a:rPr lang="pt-BR" dirty="0" smtClean="0"/>
              <a:t>Gestão por competência e Desempenho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ltGray"/>
        <p:txBody>
          <a:bodyPr rtlCol="0">
            <a:normAutofit fontScale="85000" lnSpcReduction="20000"/>
          </a:bodyPr>
          <a:lstStyle/>
          <a:p>
            <a:pPr rtl="0"/>
            <a:r>
              <a:rPr lang="pt-BR" dirty="0" smtClean="0"/>
              <a:t>                                        </a:t>
            </a:r>
            <a:r>
              <a:rPr lang="pt-BR" dirty="0" err="1" smtClean="0"/>
              <a:t>Renye</a:t>
            </a:r>
            <a:r>
              <a:rPr lang="pt-BR" dirty="0" smtClean="0"/>
              <a:t> Maciel</a:t>
            </a:r>
          </a:p>
          <a:p>
            <a:pPr rtl="0"/>
            <a:r>
              <a:rPr lang="pt-BR" dirty="0" smtClean="0"/>
              <a:t>                                        Nayara Marques</a:t>
            </a:r>
          </a:p>
          <a:p>
            <a:pPr rtl="0"/>
            <a:r>
              <a:rPr lang="pt-BR" dirty="0" smtClean="0"/>
              <a:t>                                        Dean</a:t>
            </a:r>
          </a:p>
          <a:p>
            <a:pPr rtl="0"/>
            <a:r>
              <a:rPr lang="pt-BR" dirty="0" smtClean="0"/>
              <a:t>                                        Érico </a:t>
            </a:r>
            <a:r>
              <a:rPr lang="pt-BR" dirty="0" err="1" smtClean="0"/>
              <a:t>Borgonove</a:t>
            </a:r>
            <a:endParaRPr lang="pt-BR" dirty="0" smtClean="0"/>
          </a:p>
          <a:p>
            <a:pPr rtl="0"/>
            <a:r>
              <a:rPr lang="pt-BR" dirty="0" smtClean="0"/>
              <a:t>                                        </a:t>
            </a:r>
            <a:r>
              <a:rPr lang="pt-BR" dirty="0" err="1" smtClean="0"/>
              <a:t>Asthon</a:t>
            </a:r>
            <a:r>
              <a:rPr lang="pt-BR" dirty="0" smtClean="0"/>
              <a:t> </a:t>
            </a:r>
            <a:r>
              <a:rPr lang="pt-BR" dirty="0" err="1" smtClean="0"/>
              <a:t>Jonh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58" y="173773"/>
            <a:ext cx="2629677" cy="1447799"/>
          </a:xfrm>
          <a:prstGeom prst="rect">
            <a:avLst/>
          </a:prstGeom>
        </p:spPr>
      </p:pic>
      <p:pic>
        <p:nvPicPr>
          <p:cNvPr id="6" name="Imagem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59" y="173772"/>
            <a:ext cx="2629676" cy="1447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59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BR" dirty="0" smtClean="0"/>
              <a:t>Tópicos a serem abordados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pt-BR" dirty="0" smtClean="0"/>
              <a:t>Histórico da empresa</a:t>
            </a:r>
          </a:p>
          <a:p>
            <a:pPr rtl="0"/>
            <a:r>
              <a:rPr lang="pt-BR" dirty="0" smtClean="0"/>
              <a:t>Metodologia</a:t>
            </a:r>
          </a:p>
          <a:p>
            <a:pPr rtl="0"/>
            <a:r>
              <a:rPr lang="pt-BR" dirty="0" smtClean="0"/>
              <a:t>Objetivos</a:t>
            </a:r>
          </a:p>
          <a:p>
            <a:pPr rtl="0"/>
            <a:r>
              <a:rPr lang="pt-BR" dirty="0" smtClean="0"/>
              <a:t>Periodicidade</a:t>
            </a:r>
            <a:endParaRPr lang="pt-BR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pt-BR" dirty="0" smtClean="0"/>
              <a:t>Ferramentas aplicadas</a:t>
            </a:r>
          </a:p>
          <a:p>
            <a:pPr rtl="0"/>
            <a:r>
              <a:rPr lang="pt-BR" dirty="0" smtClean="0"/>
              <a:t>Benefícios</a:t>
            </a:r>
          </a:p>
          <a:p>
            <a:pPr rtl="0"/>
            <a:r>
              <a:rPr lang="pt-BR" dirty="0" smtClean="0"/>
              <a:t>Resultados </a:t>
            </a:r>
          </a:p>
          <a:p>
            <a:pPr rtl="0"/>
            <a:r>
              <a:rPr lang="pt-BR" dirty="0" smtClean="0"/>
              <a:t>Conclusão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35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20906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Histórico da empresa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746469"/>
            <a:ext cx="10515600" cy="3221890"/>
          </a:xfrm>
        </p:spPr>
        <p:txBody>
          <a:bodyPr rtlCol="0"/>
          <a:lstStyle/>
          <a:p>
            <a:pPr algn="just"/>
            <a:r>
              <a:rPr lang="pt-BR" dirty="0">
                <a:solidFill>
                  <a:srgbClr val="010101"/>
                </a:solidFill>
                <a:latin typeface="ColaborateLightRegular"/>
              </a:rPr>
              <a:t>Fundada em 1945, a Porto Seguro Cia. de Seguros Gerais iniciou suas atividades com 50 funcionários, operando em seguros e resseguros de ramos </a:t>
            </a:r>
            <a:r>
              <a:rPr lang="pt-BR" dirty="0" smtClean="0">
                <a:solidFill>
                  <a:srgbClr val="010101"/>
                </a:solidFill>
                <a:latin typeface="ColaborateLightRegular"/>
              </a:rPr>
              <a:t>elementares</a:t>
            </a:r>
            <a:r>
              <a:rPr lang="pt-BR" dirty="0" smtClean="0">
                <a:solidFill>
                  <a:srgbClr val="010101"/>
                </a:solidFill>
              </a:rPr>
              <a:t>.</a:t>
            </a:r>
          </a:p>
          <a:p>
            <a:pPr algn="just"/>
            <a:r>
              <a:rPr lang="pt-BR" dirty="0">
                <a:solidFill>
                  <a:srgbClr val="010101"/>
                </a:solidFill>
                <a:latin typeface="ColaborateLightRegular"/>
              </a:rPr>
              <a:t>Hoje, com sede em Campos Elíseos, na região central da cidade de São Paulo, o Grupo Porto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44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21224"/>
            <a:ext cx="10515600" cy="4450976"/>
          </a:xfrm>
        </p:spPr>
        <p:txBody>
          <a:bodyPr rtlCol="0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pt-BR" sz="3600" b="1" dirty="0"/>
              <a:t>27 empresas;</a:t>
            </a:r>
          </a:p>
          <a:p>
            <a:pPr>
              <a:lnSpc>
                <a:spcPct val="120000"/>
              </a:lnSpc>
            </a:pPr>
            <a:r>
              <a:rPr lang="pt-BR" sz="3600" b="1" dirty="0"/>
              <a:t>mais de 14 mil funcionários;</a:t>
            </a:r>
          </a:p>
          <a:p>
            <a:pPr>
              <a:lnSpc>
                <a:spcPct val="120000"/>
              </a:lnSpc>
            </a:pPr>
            <a:r>
              <a:rPr lang="pt-BR" sz="3600" b="1" dirty="0"/>
              <a:t>mais de 19 mil prestadores;</a:t>
            </a:r>
          </a:p>
          <a:p>
            <a:pPr>
              <a:lnSpc>
                <a:spcPct val="120000"/>
              </a:lnSpc>
            </a:pPr>
            <a:r>
              <a:rPr lang="pt-BR" sz="3600" b="1" dirty="0"/>
              <a:t>mais de 100 sucursais e escritórios regionais;</a:t>
            </a:r>
          </a:p>
          <a:p>
            <a:pPr>
              <a:lnSpc>
                <a:spcPct val="120000"/>
              </a:lnSpc>
            </a:pPr>
            <a:r>
              <a:rPr lang="pt-BR" sz="3600" b="1" dirty="0"/>
              <a:t>mais de 29 mil Corretores;</a:t>
            </a:r>
          </a:p>
          <a:p>
            <a:pPr>
              <a:lnSpc>
                <a:spcPct val="120000"/>
              </a:lnSpc>
            </a:pPr>
            <a:r>
              <a:rPr lang="pt-BR" sz="3600" b="1" dirty="0"/>
              <a:t>mais de 15 milhões de clientes em todo o País;</a:t>
            </a:r>
          </a:p>
          <a:p>
            <a:pPr>
              <a:lnSpc>
                <a:spcPct val="120000"/>
              </a:lnSpc>
            </a:pPr>
            <a:r>
              <a:rPr lang="pt-BR" sz="3600" b="1" dirty="0"/>
              <a:t>uma seguradora com o mesmo nome no Uruguai.</a:t>
            </a:r>
          </a:p>
          <a:p>
            <a:pPr rtl="0"/>
            <a:endParaRPr lang="pt-BR" dirty="0" smtClean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88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071" y="1447800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Metodologia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773363"/>
            <a:ext cx="10515600" cy="3221890"/>
          </a:xfrm>
        </p:spPr>
        <p:txBody>
          <a:bodyPr rtlCol="0">
            <a:normAutofit/>
          </a:bodyPr>
          <a:lstStyle/>
          <a:p>
            <a:pPr algn="just"/>
            <a:r>
              <a:rPr lang="pt-BR" dirty="0"/>
              <a:t>A gestão de desempenho é o processo composto por objetivos e competências organizacionais, </a:t>
            </a:r>
            <a:r>
              <a:rPr lang="pt-BR" dirty="0" smtClean="0"/>
              <a:t>para </a:t>
            </a:r>
            <a:r>
              <a:rPr lang="pt-BR" dirty="0"/>
              <a:t>estabelecer um diálogo efetivo e constante entre gestores e funcionários, garantindo alinhamento entre os objetivos das áreas e os objetivos individuais, de forma clara, transparente e coerente, traduzindo a estratégia da organização em ações individuais e coletivas. Além de subsidiar o desenvolvimento dos funcionários, estimulando o feedback e auto desenvolvimento, e no Programa de Remuneração Variável. </a:t>
            </a:r>
          </a:p>
        </p:txBody>
      </p:sp>
    </p:spTree>
    <p:extLst>
      <p:ext uri="{BB962C8B-B14F-4D97-AF65-F5344CB8AC3E}">
        <p14:creationId xmlns:p14="http://schemas.microsoft.com/office/powerpoint/2010/main" val="145935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80565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706128"/>
            <a:ext cx="10515600" cy="3221890"/>
          </a:xfrm>
        </p:spPr>
        <p:txBody>
          <a:bodyPr rtlCol="0">
            <a:normAutofit fontScale="92500" lnSpcReduction="10000"/>
          </a:bodyPr>
          <a:lstStyle/>
          <a:p>
            <a:pPr algn="just"/>
            <a:r>
              <a:rPr lang="pt-BR" dirty="0"/>
              <a:t>A Pesquisa de Clima Organizacional é uma importante ferramenta para a gestão de pessoas e o planejamento estratégico da organização, e tem como objetivo monitorar a percepção do funcionário em relação aos diferentes aspectos do ambiente organizacional (liderança, comunicação, relacionamento, condições de trabalho, entre outros). </a:t>
            </a:r>
            <a:endParaRPr lang="pt-BR" dirty="0" smtClean="0"/>
          </a:p>
          <a:p>
            <a:pPr algn="just"/>
            <a:r>
              <a:rPr lang="pt-BR" dirty="0" smtClean="0"/>
              <a:t>O </a:t>
            </a:r>
            <a:r>
              <a:rPr lang="pt-BR" dirty="0"/>
              <a:t>resultado </a:t>
            </a:r>
            <a:r>
              <a:rPr lang="pt-BR" dirty="0" smtClean="0"/>
              <a:t>final </a:t>
            </a:r>
            <a:r>
              <a:rPr lang="pt-BR" dirty="0"/>
              <a:t>deve apresentar as informações necessárias para a </a:t>
            </a:r>
            <a:r>
              <a:rPr lang="pt-BR" dirty="0" smtClean="0"/>
              <a:t>identificação </a:t>
            </a:r>
            <a:r>
              <a:rPr lang="pt-BR" dirty="0"/>
              <a:t>de oportunidades de melhoria e a elaboração de um plano de ações. Ela é realizada a cada dois anos e o resultado </a:t>
            </a:r>
            <a:r>
              <a:rPr lang="pt-BR" dirty="0" smtClean="0"/>
              <a:t>final </a:t>
            </a:r>
            <a:r>
              <a:rPr lang="pt-BR" dirty="0"/>
              <a:t>é apresentado para todos os funcionários, juntamente com as ações de melhoria. </a:t>
            </a:r>
          </a:p>
        </p:txBody>
      </p:sp>
    </p:spTree>
    <p:extLst>
      <p:ext uri="{BB962C8B-B14F-4D97-AF65-F5344CB8AC3E}">
        <p14:creationId xmlns:p14="http://schemas.microsoft.com/office/powerpoint/2010/main" val="422300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24175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err="1" smtClean="0"/>
              <a:t>Peridiocidade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749738"/>
            <a:ext cx="10515600" cy="3221890"/>
          </a:xfrm>
        </p:spPr>
        <p:txBody>
          <a:bodyPr rtlCol="0">
            <a:normAutofit/>
          </a:bodyPr>
          <a:lstStyle/>
          <a:p>
            <a:pPr algn="just"/>
            <a:r>
              <a:rPr lang="pt-BR" dirty="0" smtClean="0"/>
              <a:t>A avaliação é realizada através de formulários, onde o gestor avalia após 45 dias de trabalho do funcionário até o fechamento do ano.</a:t>
            </a:r>
          </a:p>
          <a:p>
            <a:pPr algn="just"/>
            <a:r>
              <a:rPr lang="pt-BR" dirty="0" smtClean="0"/>
              <a:t>Pesquisa de Clima organizacional a cada 2 anos.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371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80565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Ferramentas Aplicadas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706127"/>
            <a:ext cx="10515600" cy="3600543"/>
          </a:xfrm>
        </p:spPr>
        <p:txBody>
          <a:bodyPr rtlCol="0">
            <a:normAutofit fontScale="92500" lnSpcReduction="20000"/>
          </a:bodyPr>
          <a:lstStyle/>
          <a:p>
            <a:r>
              <a:rPr lang="pt-BR" dirty="0"/>
              <a:t>Diagnóstico organizacional, </a:t>
            </a:r>
            <a:endParaRPr lang="pt-BR" dirty="0" smtClean="0"/>
          </a:p>
          <a:p>
            <a:r>
              <a:rPr lang="pt-BR" dirty="0" smtClean="0"/>
              <a:t>café </a:t>
            </a:r>
            <a:r>
              <a:rPr lang="pt-BR" dirty="0"/>
              <a:t>da manhã com funcionários</a:t>
            </a:r>
            <a:r>
              <a:rPr lang="pt-BR" dirty="0" smtClean="0"/>
              <a:t>,</a:t>
            </a:r>
          </a:p>
          <a:p>
            <a:r>
              <a:rPr lang="pt-BR" dirty="0" smtClean="0"/>
              <a:t> </a:t>
            </a:r>
            <a:r>
              <a:rPr lang="pt-BR" dirty="0"/>
              <a:t>reuniões de equipe, </a:t>
            </a:r>
            <a:endParaRPr lang="pt-BR" dirty="0" smtClean="0"/>
          </a:p>
          <a:p>
            <a:r>
              <a:rPr lang="pt-BR" dirty="0" smtClean="0"/>
              <a:t>programas </a:t>
            </a:r>
            <a:r>
              <a:rPr lang="pt-BR" dirty="0"/>
              <a:t>de treinamento </a:t>
            </a:r>
            <a:r>
              <a:rPr lang="pt-BR" dirty="0" smtClean="0"/>
              <a:t>específicos </a:t>
            </a:r>
            <a:r>
              <a:rPr lang="pt-BR" dirty="0"/>
              <a:t>na busca de melhoria no desenvolvimento e no relacionamento dos funcionários e líderes</a:t>
            </a:r>
            <a:r>
              <a:rPr lang="pt-BR" dirty="0" smtClean="0"/>
              <a:t>,</a:t>
            </a:r>
          </a:p>
          <a:p>
            <a:r>
              <a:rPr lang="pt-BR" dirty="0" smtClean="0"/>
              <a:t> </a:t>
            </a:r>
            <a:r>
              <a:rPr lang="pt-BR" dirty="0"/>
              <a:t>desenvolvimento das competências, </a:t>
            </a:r>
            <a:endParaRPr lang="pt-BR" dirty="0" smtClean="0"/>
          </a:p>
          <a:p>
            <a:r>
              <a:rPr lang="pt-BR" dirty="0" smtClean="0"/>
              <a:t>integração </a:t>
            </a:r>
            <a:r>
              <a:rPr lang="pt-BR" dirty="0"/>
              <a:t>entre as áreas, </a:t>
            </a:r>
            <a:r>
              <a:rPr lang="pt-BR" dirty="0" smtClean="0"/>
              <a:t>etc.</a:t>
            </a:r>
          </a:p>
          <a:p>
            <a:r>
              <a:rPr lang="pt-BR" dirty="0" smtClean="0"/>
              <a:t>Formulário de avaliação,</a:t>
            </a:r>
          </a:p>
          <a:p>
            <a:r>
              <a:rPr lang="pt-BR" dirty="0" smtClean="0"/>
              <a:t>Módulo de Gestão de Ponto.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015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4753" y="1434353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Formulário de avaliação</a:t>
            </a:r>
            <a:endParaRPr lang="pt-BR" dirty="0"/>
          </a:p>
        </p:txBody>
      </p:sp>
      <p:pic>
        <p:nvPicPr>
          <p:cNvPr id="4" name="Picture 2" descr="Resultado de imagem para periodicidade de avaliação de desempenho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324" y="2759916"/>
            <a:ext cx="4296833" cy="32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42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192306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Módulo de Gestão de Ponto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517869"/>
            <a:ext cx="10515600" cy="41148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Diante do desafio de gerenciar e controlar a rotina diária de registro de ponto de mais de 13 mil colaboradores, a Porto Seguro adotou uma solução da </a:t>
            </a:r>
            <a:r>
              <a:rPr lang="pt-BR" dirty="0" smtClean="0"/>
              <a:t>, </a:t>
            </a:r>
            <a:r>
              <a:rPr lang="pt-BR" dirty="0"/>
              <a:t>para a construção de uma ferramenta que otimizou esse trabalho, registrando um aumento de 60% em produtividade</a:t>
            </a:r>
            <a:r>
              <a:rPr lang="pt-BR" dirty="0" smtClean="0"/>
              <a:t>.</a:t>
            </a:r>
          </a:p>
          <a:p>
            <a:pPr algn="just"/>
            <a:r>
              <a:rPr lang="pt-BR" dirty="0"/>
              <a:t>Ao automatizar a gestão do ponto </a:t>
            </a:r>
            <a:r>
              <a:rPr lang="pt-BR" dirty="0" smtClean="0"/>
              <a:t>dos </a:t>
            </a:r>
            <a:r>
              <a:rPr lang="pt-BR" dirty="0"/>
              <a:t>colaboradores, </a:t>
            </a:r>
            <a:r>
              <a:rPr lang="pt-BR" dirty="0" smtClean="0"/>
              <a:t>passou </a:t>
            </a:r>
            <a:r>
              <a:rPr lang="pt-BR" dirty="0"/>
              <a:t>a evitar atrasos no processamento da folha de pagamento e custos não previstos pela </a:t>
            </a:r>
            <a:r>
              <a:rPr lang="pt-BR" dirty="0" smtClean="0"/>
              <a:t>empresa</a:t>
            </a:r>
          </a:p>
          <a:p>
            <a:pPr algn="just"/>
            <a:r>
              <a:rPr lang="pt-BR" dirty="0" smtClean="0"/>
              <a:t>O software teve início em 2012, e implementado em apenas três meses, oferece três interfaces para o usuário final – RH, gestor e colaborador.</a:t>
            </a:r>
          </a:p>
          <a:p>
            <a:pPr algn="just"/>
            <a:r>
              <a:rPr lang="pt-BR" dirty="0"/>
              <a:t>Com a ferramenta, o gestor tem mais facilidade para fechar e acompanhar a gestão de ponto dos colaboradores, pois consegue ter uma visão panorâmica de todo o processo, com indicadores que podem ser comparados </a:t>
            </a:r>
            <a:r>
              <a:rPr lang="pt-BR" dirty="0" smtClean="0"/>
              <a:t>mensalmente</a:t>
            </a:r>
          </a:p>
          <a:p>
            <a:pPr algn="just"/>
            <a:r>
              <a:rPr lang="pt-BR" dirty="0"/>
              <a:t>A ferramenta possibilitou uma visão mais estratégica e integrada para o líder, além de dar ao colaborador a flexibilidade de fazer a autogestão do seu tempo.</a:t>
            </a:r>
          </a:p>
        </p:txBody>
      </p:sp>
    </p:spTree>
    <p:extLst>
      <p:ext uri="{BB962C8B-B14F-4D97-AF65-F5344CB8AC3E}">
        <p14:creationId xmlns:p14="http://schemas.microsoft.com/office/powerpoint/2010/main" val="275444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53671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Benefícios para a organização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79234"/>
            <a:ext cx="10515600" cy="3243263"/>
          </a:xfrm>
        </p:spPr>
        <p:txBody>
          <a:bodyPr rtlCol="0">
            <a:normAutofit/>
          </a:bodyPr>
          <a:lstStyle/>
          <a:p>
            <a:pPr algn="just"/>
            <a:r>
              <a:rPr lang="pt-BR" dirty="0"/>
              <a:t>F</a:t>
            </a:r>
            <a:r>
              <a:rPr lang="pt-BR" dirty="0" smtClean="0"/>
              <a:t>ortalece </a:t>
            </a:r>
            <a:r>
              <a:rPr lang="pt-BR" dirty="0"/>
              <a:t>a cultura de gestão de performance e de feedback, oferecendo este último de forma estruturada pelo menos uma vez por ano a todos os funcionários da Porto Seguro. Auxilia a </a:t>
            </a:r>
            <a:r>
              <a:rPr lang="pt-BR" dirty="0" smtClean="0"/>
              <a:t>identificar </a:t>
            </a:r>
            <a:r>
              <a:rPr lang="pt-BR" dirty="0"/>
              <a:t>e reter funcionários com desempenho diferenciado, além de gerenciar os que apresentam um baixo desempenho. O foco deste trabalho é o desenvolvimento e melhoria contínua.</a:t>
            </a:r>
          </a:p>
          <a:p>
            <a:pPr algn="just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88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BR" dirty="0" smtClean="0"/>
              <a:t>Benefícios para os funcionários</a:t>
            </a:r>
            <a:endParaRPr lang="pt-BR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2"/>
          </p:nvPr>
        </p:nvSpPr>
        <p:spPr>
          <a:xfrm>
            <a:off x="1241612" y="2749738"/>
            <a:ext cx="9708776" cy="3872752"/>
          </a:xfrm>
        </p:spPr>
        <p:txBody>
          <a:bodyPr rtlCol="0">
            <a:normAutofit/>
          </a:bodyPr>
          <a:lstStyle/>
          <a:p>
            <a:pPr algn="just"/>
            <a:r>
              <a:rPr lang="pt-BR" dirty="0"/>
              <a:t>O</a:t>
            </a:r>
            <a:r>
              <a:rPr lang="pt-BR" dirty="0" smtClean="0"/>
              <a:t>s </a:t>
            </a:r>
            <a:r>
              <a:rPr lang="pt-BR" dirty="0"/>
              <a:t>resultados servem como um orientador de comportamento, este ajuda o funcionário a ter clareza sobre o que é esperado dele na Organização e como ele é percebido por seu gestor. Além disso, todos os funcionários participarão do processo que estabelece critérios para ações salariais, promoções, transferências, treinamentos, etc. Foco deste trabalho é o desenvolvimento das pessoas, coerência com a carreira do funcionário e seu Plano de Desenvolvimento Individual (PDI).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1476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53671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Resultados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679234"/>
            <a:ext cx="10515600" cy="3221890"/>
          </a:xfrm>
        </p:spPr>
        <p:txBody>
          <a:bodyPr rtlCol="0"/>
          <a:lstStyle/>
          <a:p>
            <a:pPr algn="just"/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Foi identificado que a forma de gestão é por competência e o tipo de avaliação realizada é direta ou 90 graus, onde o gestor avalia </a:t>
            </a:r>
            <a:r>
              <a:rPr lang="pt-BR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atribuindo a situação dos funcionários e colaboradores.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Utilizando números em porcentagem das metas alcançadas. Para a melhoria da performance no atingimento das metas, a empresa adota métodos de motivações nas mais diversas formas como viagens, carros, premiações em dinheiro, e etc.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071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367118"/>
            <a:ext cx="10515600" cy="1325563"/>
          </a:xfrm>
        </p:spPr>
        <p:txBody>
          <a:bodyPr rtlCol="0"/>
          <a:lstStyle/>
          <a:p>
            <a:pPr algn="ctr" rtl="0"/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692681"/>
            <a:ext cx="10515600" cy="3221890"/>
          </a:xfrm>
        </p:spPr>
        <p:txBody>
          <a:bodyPr rtlCol="0"/>
          <a:lstStyle/>
          <a:p>
            <a:pPr algn="just"/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Desenvolver uma ótima gestão organizacional, também está relacionado a oferecer condições ideais para a melhoria continua dos funcionários e isso é possível quando há uma preocupação de mensurar resultados e o progresso do colaborador. O gestor precisa estar atento de como manter as pessoas motivadas, sempre buscando formas inovadoras de incentivar o crescimento e desenvolvimento pessoal.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872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resentação de orientação para funcionários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ln>
          <a:solidFill>
            <a:schemeClr val="accent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_15303246_TF03460514.potx" id="{D3B50231-49F3-470A-B435-7B53D5B5E7AC}" vid="{5543B9F0-20C2-46AF-B6CC-A5E11719229E}"/>
    </a:ext>
  </a:extLst>
</a:theme>
</file>

<file path=ppt/theme/theme2.xml><?xml version="1.0" encoding="utf-8"?>
<a:theme xmlns:a="http://schemas.openxmlformats.org/drawingml/2006/main" name="Tema do Offic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orientação para funcionários</Template>
  <TotalTime>144</TotalTime>
  <Words>884</Words>
  <Application>Microsoft Office PowerPoint</Application>
  <PresentationFormat>Widescreen</PresentationFormat>
  <Paragraphs>71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Cambria Math</vt:lpstr>
      <vt:lpstr>ColaborateLightRegular</vt:lpstr>
      <vt:lpstr>Apresentação de orientação para funcionários</vt:lpstr>
      <vt:lpstr>Gestão por competência e Desempenho</vt:lpstr>
      <vt:lpstr>Tópicos a serem abordados</vt:lpstr>
      <vt:lpstr>Histórico da empresa</vt:lpstr>
      <vt:lpstr>Apresentação do PowerPoint</vt:lpstr>
      <vt:lpstr>Metodologia</vt:lpstr>
      <vt:lpstr>OBJETIVOS</vt:lpstr>
      <vt:lpstr>Peridiocidade</vt:lpstr>
      <vt:lpstr>Ferramentas Aplicadas</vt:lpstr>
      <vt:lpstr>Formulário de avaliação</vt:lpstr>
      <vt:lpstr>Módulo de Gestão de Ponto</vt:lpstr>
      <vt:lpstr>Benefícios para a organização</vt:lpstr>
      <vt:lpstr>Benefícios para os funcionários</vt:lpstr>
      <vt:lpstr>Resultados</vt:lpstr>
      <vt:lpstr>Conclusão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por competência e Desempenho</dc:title>
  <dc:creator>Manutech</dc:creator>
  <cp:lastModifiedBy>Manutech</cp:lastModifiedBy>
  <cp:revision>11</cp:revision>
  <dcterms:created xsi:type="dcterms:W3CDTF">2018-02-01T17:10:32Z</dcterms:created>
  <dcterms:modified xsi:type="dcterms:W3CDTF">2018-02-01T19:36:24Z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74063500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