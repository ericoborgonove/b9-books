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9"/>
  </p:notesMasterIdLst>
  <p:sldIdLst>
    <p:sldId id="256" r:id="rId3"/>
    <p:sldId id="257" r:id="rId4"/>
    <p:sldId id="261" r:id="rId5"/>
    <p:sldId id="259" r:id="rId6"/>
    <p:sldId id="260" r:id="rId7"/>
    <p:sldId id="258" r:id="rId8"/>
  </p:sldIdLst>
  <p:sldSz cx="12192000" cy="6858000"/>
  <p:notesSz cx="6858000" cy="9144000"/>
  <p:embeddedFontLst>
    <p:embeddedFont>
      <p:font typeface="Barlow" panose="00000500000000000000" pitchFamily="2" charset="0"/>
      <p:regular r:id="rId10"/>
      <p:bold r:id="rId11"/>
      <p:italic r:id="rId12"/>
      <p:boldItalic r:id="rId13"/>
    </p:embeddedFont>
    <p:embeddedFont>
      <p:font typeface="Barlow SemiBold" panose="00000700000000000000" pitchFamily="2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8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3105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Compliance Corporativo no Brasil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Compliance e a previsão legal no Brasil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0836185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pt-BR" sz="2800" dirty="0" err="1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Aart</a:t>
            </a: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. 1º da Lei Anticorrupção, dispõe sobre a  responsabilização da pessoa jurídica de forma objetiva.</a:t>
            </a:r>
          </a:p>
          <a:p>
            <a:pPr marL="457200" indent="-457200" algn="just">
              <a:lnSpc>
                <a:spcPct val="150000"/>
              </a:lnSpc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pt-BR" sz="2800" b="1" i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RESPONSABILIZAÇÃO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Objetiva  X  Subjetiva</a:t>
            </a:r>
          </a:p>
          <a:p>
            <a:pPr marL="457200" indent="-457200" algn="just">
              <a:lnSpc>
                <a:spcPct val="150000"/>
              </a:lnSpc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Compliance e a previsão legal no Brasil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1210486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Conexão entre os grandes grupos empresariais e o governo é cada vez mais estreita. Isso cria um ambiente propício à corrupção entre entidades públicas e privadas.</a:t>
            </a:r>
          </a:p>
        </p:txBody>
      </p:sp>
    </p:spTree>
    <p:extLst>
      <p:ext uri="{BB962C8B-B14F-4D97-AF65-F5344CB8AC3E}">
        <p14:creationId xmlns:p14="http://schemas.microsoft.com/office/powerpoint/2010/main" val="411837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Compliance Corporativo</a:t>
            </a:r>
            <a:endParaRPr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dirty="0"/>
              <a:t>Entendi Carvalho et al. (2021, p. 52), </a:t>
            </a:r>
          </a:p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r>
              <a:rPr lang="pt-BR" sz="2800" dirty="0"/>
              <a:t>“um programa de Compliance não se compra, mais sim, deve ser incorporado como um padrão valorativo e comportamental da empresa, refletido em atividades permanentes de todos os colaboradores, como parte integrante de seu modelo de negócio”. </a:t>
            </a:r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Compliance Corporativo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603840" y="1800663"/>
            <a:ext cx="1098432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>
              <a:buNone/>
            </a:pPr>
            <a:r>
              <a:rPr lang="pt-BR" sz="20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Lei n 12.846/13               </a:t>
            </a:r>
            <a:r>
              <a:rPr lang="pt-BR" sz="2000" b="1" i="1" dirty="0">
                <a:solidFill>
                  <a:schemeClr val="tx1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Decreto nº 8.420/16</a:t>
            </a:r>
          </a:p>
          <a:p>
            <a:pPr marL="0" indent="0" algn="just">
              <a:buNone/>
            </a:pPr>
            <a:endParaRPr lang="pt-BR" sz="2000" b="1" i="1" dirty="0">
              <a:solidFill>
                <a:schemeClr val="tx1"/>
              </a:solidFill>
              <a:effectLst/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000" b="1" i="1" dirty="0">
                <a:solidFill>
                  <a:schemeClr val="tx1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Lei nº 11.129/22</a:t>
            </a:r>
          </a:p>
          <a:p>
            <a:pPr marL="0" indent="0" algn="just">
              <a:buNone/>
            </a:pPr>
            <a:endParaRPr lang="pt-BR" sz="2000" b="1" i="1" dirty="0">
              <a:solidFill>
                <a:schemeClr val="tx1"/>
              </a:solidFill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dirty="0">
                <a:solidFill>
                  <a:schemeClr val="tx1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Art. 56.  Para fins do disposto neste Decreto, programa de integridade consiste, no âmbito de uma pessoa jurídica, no conjunto de mecanismos e procedimentos internos de integridade, auditoria e incentivo à denúncia de irregularidades e na aplicação efetiva de códigos de ética e de conduta, políticas e diretrizes, com objetivo de:</a:t>
            </a:r>
          </a:p>
          <a:p>
            <a:pPr marL="0" indent="0" algn="just">
              <a:buNone/>
            </a:pPr>
            <a:r>
              <a:rPr lang="pt-BR" dirty="0">
                <a:solidFill>
                  <a:schemeClr val="tx1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I - prevenir, detectar e sanar desvios, fraudes, irregularidades e atos ilícitos praticados contra a Administração Pública, nacional ou estrangeira; e</a:t>
            </a:r>
          </a:p>
          <a:p>
            <a:pPr marL="0" indent="0" algn="just">
              <a:buNone/>
            </a:pPr>
            <a:r>
              <a:rPr lang="pt-BR" dirty="0">
                <a:solidFill>
                  <a:schemeClr val="tx1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II - fomentar e manter uma cultura de integridade no ambiente organizacional.</a:t>
            </a:r>
          </a:p>
          <a:p>
            <a:pPr marL="0" indent="0" algn="just">
              <a:buNone/>
            </a:pPr>
            <a:r>
              <a:rPr lang="pt-BR" dirty="0">
                <a:solidFill>
                  <a:schemeClr val="tx1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Parágrafo único.  O programa de integridade deve ser estruturado, aplicado e atualizado de acordo com as características e os riscos atuais das atividades de cada pessoa jurídica, a qual, por sua vez, deve garantir o constante aprimoramento e a adaptação do referido programa, visando garantir sua efetividade.</a:t>
            </a:r>
          </a:p>
          <a:p>
            <a:pPr marL="0" indent="0" algn="just">
              <a:buNone/>
            </a:pPr>
            <a:endParaRPr lang="pt-BR" sz="2000" b="1" i="1" dirty="0">
              <a:solidFill>
                <a:schemeClr val="tx1"/>
              </a:solidFill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pt-BR" sz="2800" i="1" dirty="0">
              <a:effectLst/>
              <a:latin typeface="Barlow" panose="00000500000000000000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2800" i="1" dirty="0">
              <a:solidFill>
                <a:schemeClr val="tx1"/>
              </a:solidFill>
              <a:latin typeface="Barlow" panose="00000500000000000000" pitchFamily="2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Stakeholders X stakeholders</a:t>
            </a:r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5F317D93-C0B6-AD87-4613-876155EFF907}"/>
              </a:ext>
            </a:extLst>
          </p:cNvPr>
          <p:cNvSpPr/>
          <p:nvPr/>
        </p:nvSpPr>
        <p:spPr>
          <a:xfrm>
            <a:off x="5763064" y="1941341"/>
            <a:ext cx="332936" cy="3376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Previsão legal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Compliance Corporativo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Caminho normativo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302</Words>
  <Application>Microsoft Office PowerPoint</Application>
  <PresentationFormat>Widescreen</PresentationFormat>
  <Paragraphs>31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Barlow SemiBold</vt:lpstr>
      <vt:lpstr>Calibri</vt:lpstr>
      <vt:lpstr>Calibri Light</vt:lpstr>
      <vt:lpstr>Barlow</vt:lpstr>
      <vt:lpstr>Arial</vt:lpstr>
      <vt:lpstr>Simple Light</vt:lpstr>
      <vt:lpstr>Personalizar design</vt:lpstr>
      <vt:lpstr>Compliance Corporativo no Brasil</vt:lpstr>
      <vt:lpstr>Compliance e a previsão legal no Brasil</vt:lpstr>
      <vt:lpstr>Compliance e a previsão legal no Brasil</vt:lpstr>
      <vt:lpstr>Compliance Corporativo</vt:lpstr>
      <vt:lpstr>Compliance Corporativo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13</cp:revision>
  <dcterms:modified xsi:type="dcterms:W3CDTF">2022-07-22T01:03:33Z</dcterms:modified>
</cp:coreProperties>
</file>