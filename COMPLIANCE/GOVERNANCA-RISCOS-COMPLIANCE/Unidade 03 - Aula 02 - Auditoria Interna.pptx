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5" r:id="rId1"/>
    <p:sldMasterId id="2147483656" r:id="rId2"/>
  </p:sldMasterIdLst>
  <p:notesMasterIdLst>
    <p:notesMasterId r:id="rId9"/>
  </p:notesMasterIdLst>
  <p:sldIdLst>
    <p:sldId id="256" r:id="rId3"/>
    <p:sldId id="257" r:id="rId4"/>
    <p:sldId id="259" r:id="rId5"/>
    <p:sldId id="261" r:id="rId6"/>
    <p:sldId id="260" r:id="rId7"/>
    <p:sldId id="258" r:id="rId8"/>
  </p:sldIdLst>
  <p:sldSz cx="12192000" cy="6858000"/>
  <p:notesSz cx="6858000" cy="9144000"/>
  <p:embeddedFontLst>
    <p:embeddedFont>
      <p:font typeface="Barlow" panose="00000500000000000000" pitchFamily="2" charset="0"/>
      <p:regular r:id="rId10"/>
      <p:bold r:id="rId11"/>
      <p:italic r:id="rId12"/>
      <p:boldItalic r:id="rId13"/>
    </p:embeddedFont>
    <p:embeddedFont>
      <p:font typeface="Barlow SemiBold" panose="00000700000000000000" pitchFamily="2" charset="0"/>
      <p:regular r:id="rId14"/>
      <p:bold r:id="rId15"/>
      <p:italic r:id="rId16"/>
      <p:boldItalic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Calibri Light" panose="020F0302020204030204" pitchFamily="34" charset="0"/>
      <p:regular r:id="rId22"/>
      <p: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029" autoAdjust="0"/>
    <p:restoredTop sz="94660"/>
  </p:normalViewPr>
  <p:slideViewPr>
    <p:cSldViewPr snapToGrid="0">
      <p:cViewPr varScale="1">
        <p:scale>
          <a:sx n="68" d="100"/>
          <a:sy n="68" d="100"/>
        </p:scale>
        <p:origin x="1182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font" Target="fonts/font12.fntdata"/><Relationship Id="rId7" Type="http://schemas.openxmlformats.org/officeDocument/2006/relationships/slide" Target="slides/slide5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2.fntdata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font" Target="fonts/font6.fntdata"/><Relationship Id="rId23" Type="http://schemas.openxmlformats.org/officeDocument/2006/relationships/font" Target="fonts/font14.fntdata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" name="Google Shape;3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e0f25ceea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e0f25ceea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e0f25ceea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e0f25ceea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51169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e0f25ceea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e0f25ceea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13181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e1a6dd9dea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e1a6dd9dea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1" name="Google Shape;11;p2"/>
          <p:cNvSpPr txBox="1">
            <a:spLocks noGrp="1"/>
          </p:cNvSpPr>
          <p:nvPr>
            <p:ph type="title"/>
          </p:nvPr>
        </p:nvSpPr>
        <p:spPr>
          <a:xfrm>
            <a:off x="4704800" y="1558400"/>
            <a:ext cx="7088400" cy="374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720000" y="143333"/>
            <a:ext cx="8347800" cy="126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Barlow SemiBold"/>
              <a:buNone/>
              <a:defRPr sz="2667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4" name="Google Shape;14;p3"/>
          <p:cNvSpPr txBox="1">
            <a:spLocks noGrp="1"/>
          </p:cNvSpPr>
          <p:nvPr>
            <p:ph type="body" idx="1"/>
          </p:nvPr>
        </p:nvSpPr>
        <p:spPr>
          <a:xfrm>
            <a:off x="720000" y="1862817"/>
            <a:ext cx="11308000" cy="44525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57178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8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 dirty="0"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FAED773-8D6C-4A3F-A76A-1389A39FC813}"/>
              </a:ext>
            </a:extLst>
          </p:cNvPr>
          <p:cNvSpPr/>
          <p:nvPr userDrawn="1"/>
        </p:nvSpPr>
        <p:spPr>
          <a:xfrm>
            <a:off x="9067800" y="90265"/>
            <a:ext cx="3035300" cy="17194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3" userDrawn="1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1">
  <p:cSld name="TITLE_AND_BODY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720000" y="143333"/>
            <a:ext cx="8959600" cy="126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Barlow SemiBold"/>
              <a:buNone/>
              <a:defRPr sz="2667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720000" y="1569367"/>
            <a:ext cx="11308000" cy="47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57178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8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3" userDrawn="1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body" idx="1"/>
          </p:nvPr>
        </p:nvSpPr>
        <p:spPr>
          <a:xfrm>
            <a:off x="6745589" y="1536637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70" lvl="0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 sz="1867"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●"/>
              <a:defRPr sz="1600"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●"/>
              <a:defRPr sz="1600"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2"/>
          </p:nvPr>
        </p:nvSpPr>
        <p:spPr>
          <a:xfrm>
            <a:off x="7200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70" lvl="0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 sz="1867"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●"/>
              <a:defRPr sz="1600"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●"/>
              <a:defRPr sz="1600"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720000" y="143333"/>
            <a:ext cx="8959600" cy="126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Barlow SemiBold"/>
              <a:buNone/>
              <a:defRPr sz="2667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3" userDrawn="1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7634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Barlow SemiBold"/>
              <a:buNone/>
              <a:defRPr sz="640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288" userDrawn="1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rgbClr val="29327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70" lvl="0" indent="-45717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Barlow"/>
              <a:buChar char="●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○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■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●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○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■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●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○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■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8FE6A-9DFD-442E-AC39-A4AE89F52C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444A831-FD8F-4669-AAE7-C83462F047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60013CF-4DE6-4722-B4F6-8A7CE2AD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125AD5D-9447-4C13-8786-F75809899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0895474-1D1E-4CD7-AE5B-D4D9ADC30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3940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EDEDA9-8097-412A-A3EA-98AC8BC55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D23EC6-D7C5-475C-A3D5-A546985067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8DF967F-9166-4E66-A95A-FAED2EBE6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E449B4B-BD54-4D55-A06C-F325BE844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809BA9E-9FC8-4EF7-943A-F7C621411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2680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9447D1-533E-48BE-8CCA-F04A5AE49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A92D50D-FAA4-4AB4-BFDA-3B27E774C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0BB753-132B-46EC-BB4F-F8B66F41B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39E4072-187F-4221-96E7-3337DF406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08AC7F6-2422-4744-8DCC-976CAFE9B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1820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E65323-C00D-4CF8-842D-60D661A7D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E38EC7-1255-450A-853A-F62B3E100C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DD08221-4A44-4C08-9AA1-5994957115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88CB341-417B-46E7-8BE3-B5BF4F705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7B6BEF5-7C9D-44D1-89D3-D93061AA3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E75F8F8-134F-421A-9612-B5CCC7B89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0477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429275-A899-4F06-96E3-79AB9D542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C2DA2B6-8A35-424C-9C53-7BE4811BE7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5863168-7232-42ED-969A-4800132ED8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0387CD7-7F77-4CDC-8B90-884A89412C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BF0F242-700D-4C21-9040-3CFAA61803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D1CA807-EC69-4769-A80E-469D6127E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DDD9322-0465-4BE4-9373-EB45824EF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359B6E1-2B0F-4EA0-A9F5-74C5BB97B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96031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8254E0-8260-401C-B681-CA75D5C54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646C151-CE0A-4C65-9D11-47A1F4C29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593F609-635F-496C-B3DF-6D478A256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A17FB98-9D4A-4B76-8AE4-CAB74B6AA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9060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B7FA74E-BE62-41D4-B76C-08DA93C5D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8420BC6-E3F6-4966-8681-4E1ACD36D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EF612EF-69A7-4AEB-AD06-CB97299ED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97732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F7682A-65E7-4662-B2DA-4CC112962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A5E6F3-48CD-4492-87A9-0101316A1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807024-4C12-4B6D-97F8-55D0E625E0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341DD33-BE04-4E89-9151-902F8801C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150CA88-D331-4613-8477-0FA50953D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E24067C-B5C6-46A0-9062-00EF06A4D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82174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1F751F-0998-45D6-B02D-952815569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16DE0DF-4346-4073-9D58-F8B82896E3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329A7DF-B042-49D4-BB23-4538F37BF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A788E18-CE5E-403D-8DEE-12CB00138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22768DE-8A2F-4537-931A-6E607DA02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557139C-B395-482A-AAD7-33B5B3F83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79261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FCE7C9-6B92-4B77-B987-E30FF6A93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D444922-4F9B-4635-B156-BB66D36F1B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E593D5-6282-4E7B-A972-A9F0D1724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A2946B6-EC90-4B5E-B238-E5DB34810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15E266-DC81-4713-8B4E-5D97666CD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82496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9252D17-4696-4278-85CA-9DA07BDDE3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F44FFD8-B7A9-4D75-AC3E-BD4E43AFC4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C130E0-DFCB-4D3D-A4FB-12FA19C9D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387B06-984F-43C0-9493-70EC2DB15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6E473B3-F4CC-4E7D-845D-BD32E9444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7359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5B07315-3675-4F71-99D4-010BAE11B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8F1DDE4-7486-43E5-9C34-59202362B4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EAABDA-D8AA-4C1E-8B25-C567679C9A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8EA044-3A27-45D7-8C9B-3ED549D2AE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87CBB4-9DFF-4959-B091-79D205708C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725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4704800" y="1558400"/>
            <a:ext cx="7088400" cy="37412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r>
              <a:rPr lang="pt-BR" dirty="0"/>
              <a:t>Auditoria Interna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840000" y="143333"/>
            <a:ext cx="8184079" cy="1685466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3200" b="1" dirty="0">
                <a:latin typeface="Barlow" panose="00000500000000000000" pitchFamily="2" charset="0"/>
                <a:cs typeface="Calibri" panose="020F0502020204030204" pitchFamily="34" charset="0"/>
              </a:rPr>
              <a:t>Origem da Auditoria Interna</a:t>
            </a:r>
            <a:endParaRPr sz="3200" b="1" dirty="0">
              <a:solidFill>
                <a:srgbClr val="FF0000"/>
              </a:solidFill>
              <a:latin typeface="Barlow" panose="000005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840000" y="2173574"/>
            <a:ext cx="11210486" cy="420348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sz="28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Segundo entende Pinheiro (2022), que o objetivo da auditoria pública, tem o condão de avaliar a gestão pública por meio de processos e resultados de gestão e aplicação de recursos. publicados por entidades de direito público e privado, através de Situações encontradas sob determinadas normas técnicas, operacionais ou legais. </a:t>
            </a:r>
            <a:endParaRPr lang="pt-BR" sz="2800" dirty="0">
              <a:solidFill>
                <a:schemeClr val="tx1"/>
              </a:solidFill>
              <a:latin typeface="Barlow" panose="00000500000000000000" pitchFamily="2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840000" y="143333"/>
            <a:ext cx="8184079" cy="1685466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3200" b="1" dirty="0">
                <a:latin typeface="Barlow" panose="00000500000000000000" pitchFamily="2" charset="0"/>
              </a:rPr>
              <a:t>Conceito de Auditoria Interna</a:t>
            </a:r>
            <a:endParaRPr sz="3200" b="1" dirty="0">
              <a:latin typeface="Barlow" panose="00000500000000000000" pitchFamily="2" charset="0"/>
            </a:endParaRPr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720000" y="1890488"/>
            <a:ext cx="10829575" cy="442487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indent="0"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pt-BR" sz="18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Decreto nº 9.203/17,  Art. 18 A auditoria interna governamental deverá adicionar valor e melhorar as operações das organizações para o alcance de seus objetivos, mediante a abordagem sistemática e disciplinada para avaliar e melhorar a eficácia dos processos de gerenciamento de riscos, dos controles e da governança, por meio da:</a:t>
            </a:r>
          </a:p>
          <a:p>
            <a:pPr indent="0" algn="just">
              <a:lnSpc>
                <a:spcPct val="100000"/>
              </a:lnSpc>
              <a:spcAft>
                <a:spcPts val="800"/>
              </a:spcAft>
              <a:buNone/>
            </a:pP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52392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 - realização de trabalhos de avaliação e consultoria de forma independente, segundo os padrões de auditoria e ética profissional reconhecidos internacionalmente;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52392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II - adoção de abordagem baseada em risco para o planejamento de suas atividades e para a definição do escopo, da natureza, da época e da extensão dos procedimentos de auditoria; e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52392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III - promoção à prevenção, à detecção e à investigação de fraudes praticadas por agentes públicos ou privados na utilização de recursos públicos federais. (BRASIL, 2017)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9743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728E99-F730-F08C-C155-E4A30C2D7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Auditoria interna e Auditoria externa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0714FC0-6C7E-1726-964B-ADD584DD0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862817"/>
            <a:ext cx="10787372" cy="4452549"/>
          </a:xfrm>
        </p:spPr>
        <p:txBody>
          <a:bodyPr/>
          <a:lstStyle/>
          <a:p>
            <a:pPr marL="152392" indent="0" algn="just">
              <a:buNone/>
            </a:pPr>
            <a:r>
              <a:rPr lang="pt-BR" sz="24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COSO (2007)</a:t>
            </a:r>
          </a:p>
          <a:p>
            <a:pPr marL="152392" indent="0" algn="just">
              <a:buNone/>
            </a:pPr>
            <a:r>
              <a:rPr lang="pt-BR" sz="24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Sendo o objetivo de uma auditoria externa expressar uma opinião, qual deva exibir a real e fatídica situação patrimonial e financeira da empresa, comprovando seus pareceres por meio de anotações dos registros contábeis, bem como propor soluções e melhorias empresa contratante. Não devendo ser confundido com a atividade do auditor externo quais estão envolvidos em todo o dia-a-dia de uma empresa, enquanto os auditores externos são contratados para realizarem atividades esporádicas, e, especificas. </a:t>
            </a:r>
            <a:endParaRPr lang="pt-BR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10878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840000" y="143333"/>
            <a:ext cx="8184079" cy="1685466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3200" dirty="0"/>
              <a:t>Auditoria e Controle Interno</a:t>
            </a:r>
            <a:endParaRPr sz="3200" dirty="0"/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720000" y="1890488"/>
            <a:ext cx="10815508" cy="4675204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just">
              <a:buNone/>
            </a:pPr>
            <a:r>
              <a:rPr lang="pt-BR" sz="28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Podemos nestes modos afirmar que o </a:t>
            </a:r>
            <a:r>
              <a:rPr lang="pt-BR" sz="2800" b="1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controle interno </a:t>
            </a:r>
            <a:r>
              <a:rPr lang="pt-BR" sz="28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é a base para as atividades da </a:t>
            </a:r>
            <a:r>
              <a:rPr lang="pt-BR" sz="2800" b="1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auditoria interna</a:t>
            </a:r>
            <a:r>
              <a:rPr lang="pt-BR" sz="28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, quais objetivo principal, é monitorar a gestão de riscos, e recomendar as melhorias para o setor de controle interno.</a:t>
            </a:r>
            <a:endParaRPr lang="pt-BR" sz="2800" i="1" dirty="0">
              <a:solidFill>
                <a:schemeClr val="tx1"/>
              </a:solidFill>
              <a:latin typeface="Barlow" panose="00000500000000000000" pitchFamily="2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pt-BR" sz="2800" dirty="0">
              <a:solidFill>
                <a:schemeClr val="tx1"/>
              </a:solidFill>
              <a:latin typeface="Barlow" panose="00000500000000000000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312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title"/>
          </p:nvPr>
        </p:nvSpPr>
        <p:spPr>
          <a:xfrm>
            <a:off x="840000" y="143333"/>
            <a:ext cx="8244039" cy="1700456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3200" dirty="0"/>
              <a:t>PONTOS PRINCIPAIS ABORDADOS NA AULA</a:t>
            </a:r>
            <a:endParaRPr sz="3200" dirty="0"/>
          </a:p>
        </p:txBody>
      </p:sp>
      <p:sp>
        <p:nvSpPr>
          <p:cNvPr id="52" name="Google Shape;52;p11"/>
          <p:cNvSpPr txBox="1">
            <a:spLocks noGrp="1"/>
          </p:cNvSpPr>
          <p:nvPr>
            <p:ph type="body" idx="1"/>
          </p:nvPr>
        </p:nvSpPr>
        <p:spPr>
          <a:xfrm>
            <a:off x="840000" y="1905479"/>
            <a:ext cx="11308000" cy="4454857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just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endParaRPr lang="pt-BR" sz="2800" dirty="0"/>
          </a:p>
          <a:p>
            <a:pPr algn="just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r>
              <a:rPr lang="pt-BR" sz="2800" dirty="0"/>
              <a:t>Conceito de Auditoria Interna</a:t>
            </a:r>
          </a:p>
          <a:p>
            <a:pPr algn="just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r>
              <a:rPr lang="pt-BR" sz="2800" dirty="0"/>
              <a:t>Auditoria Interna e Externa</a:t>
            </a:r>
          </a:p>
          <a:p>
            <a:pPr algn="just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r>
              <a:rPr lang="pt-BR" sz="2800" dirty="0"/>
              <a:t>Controle e </a:t>
            </a:r>
            <a:r>
              <a:rPr lang="pt-BR" sz="2800"/>
              <a:t>Auditoria Interna</a:t>
            </a:r>
            <a:endParaRPr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363</Words>
  <Application>Microsoft Office PowerPoint</Application>
  <PresentationFormat>Widescreen</PresentationFormat>
  <Paragraphs>19</Paragraphs>
  <Slides>6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6</vt:i4>
      </vt:variant>
    </vt:vector>
  </HeadingPairs>
  <TitlesOfParts>
    <vt:vector size="13" baseType="lpstr">
      <vt:lpstr>Barlow SemiBold</vt:lpstr>
      <vt:lpstr>Calibri</vt:lpstr>
      <vt:lpstr>Calibri Light</vt:lpstr>
      <vt:lpstr>Barlow</vt:lpstr>
      <vt:lpstr>Arial</vt:lpstr>
      <vt:lpstr>Simple Light</vt:lpstr>
      <vt:lpstr>Personalizar design</vt:lpstr>
      <vt:lpstr>Auditoria Interna</vt:lpstr>
      <vt:lpstr>Origem da Auditoria Interna</vt:lpstr>
      <vt:lpstr>Conceito de Auditoria Interna</vt:lpstr>
      <vt:lpstr>Auditoria interna e Auditoria externa</vt:lpstr>
      <vt:lpstr>Auditoria e Controle Interno</vt:lpstr>
      <vt:lpstr>PONTOS PRINCIPAIS ABORDADOS NA AULA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NOÇÕES INTRODUTÓRIAS DE DIREITO PENAL</dc:title>
  <cp:lastModifiedBy>debora paiva</cp:lastModifiedBy>
  <cp:revision>13</cp:revision>
  <dcterms:modified xsi:type="dcterms:W3CDTF">2022-07-22T01:53:42Z</dcterms:modified>
</cp:coreProperties>
</file>