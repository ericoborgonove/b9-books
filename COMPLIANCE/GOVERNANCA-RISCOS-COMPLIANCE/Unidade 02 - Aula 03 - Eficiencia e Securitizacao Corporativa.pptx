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9"/>
  </p:notesMasterIdLst>
  <p:sldIdLst>
    <p:sldId id="256" r:id="rId3"/>
    <p:sldId id="257" r:id="rId4"/>
    <p:sldId id="260" r:id="rId5"/>
    <p:sldId id="259" r:id="rId6"/>
    <p:sldId id="261" r:id="rId7"/>
    <p:sldId id="258" r:id="rId8"/>
  </p:sldIdLst>
  <p:sldSz cx="12192000" cy="6858000"/>
  <p:notesSz cx="6858000" cy="9144000"/>
  <p:embeddedFontLst>
    <p:embeddedFont>
      <p:font typeface="Barlow" panose="00000500000000000000" pitchFamily="2" charset="0"/>
      <p:regular r:id="rId10"/>
      <p:bold r:id="rId11"/>
      <p:italic r:id="rId12"/>
      <p:boldItalic r:id="rId13"/>
    </p:embeddedFont>
    <p:embeddedFont>
      <p:font typeface="Barlow SemiBold" panose="00000700000000000000" pitchFamily="2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9" autoAdjust="0"/>
    <p:restoredTop sz="94660"/>
  </p:normalViewPr>
  <p:slideViewPr>
    <p:cSldViewPr snapToGrid="0">
      <p:cViewPr varScale="1">
        <p:scale>
          <a:sx n="44" d="100"/>
          <a:sy n="44" d="100"/>
        </p:scale>
        <p:origin x="78" y="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lang="pt-BR" dirty="0"/>
              <a:t>Eficiência frente a securitização corporativa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600" dirty="0"/>
              <a:t>Eficiência frente a securitização corporativa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002973"/>
            <a:ext cx="11210486" cy="444137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Ante o impasse do planejamento estratégico das corporações, estejam a depender de massivas exigências legais, em face ao aumento de suas atividades que de acordo com as demandas mercadológicas, vem se tornando cada dia mais robusta, globais e complexa. </a:t>
            </a:r>
          </a:p>
          <a:p>
            <a:pPr marL="457200" indent="-457200" algn="just">
              <a:lnSpc>
                <a:spcPct val="150000"/>
              </a:lnSpc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600" dirty="0"/>
              <a:t>Eficiência frente a securitização corporativa</a:t>
            </a:r>
            <a:endParaRPr sz="32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0818857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dirty="0"/>
              <a:t>Art. 9º A empresa pública e a sociedade de economia mista adotarão regras de estruturas e práticas de gestão de riscos e controle interno que abranjam:</a:t>
            </a:r>
          </a:p>
          <a:p>
            <a:pPr marL="0" indent="0" algn="just">
              <a:buNone/>
            </a:pPr>
            <a:endParaRPr lang="pt-BR" sz="2800" dirty="0"/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§ 3o A auditoria interna deverá: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 - ser vinculada ao Conselho de Administração, diretamente ou por meio do Comitê de Auditoria Estatutário;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II - ser responsável </a:t>
            </a:r>
            <a:r>
              <a:rPr lang="pt-BR" sz="1800" u="sng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por aferir a adequação do controle interno, a efetividade do gerenciamento dos riscos e dos processos de governança</a:t>
            </a: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e a confiabilidade do processo de coleta, mensuração, classificação, acumulação, registro e divulgação de eventos e transações, visando ao preparo de demonstrações financeiras.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600" dirty="0"/>
              <a:t>Securitização corporativa</a:t>
            </a:r>
            <a:endParaRPr lang="pt-BR" sz="3200" b="1" dirty="0">
              <a:latin typeface="Barlow" panose="00000500000000000000" pitchFamily="2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058343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800" dirty="0"/>
              <a:t>Surgiu a figura do seguro corporativo, qual veio a suprir os eventos que até outrora não tinha segurabilidade. Nisto o mercado de seguros, inovou e foi além, tornando eventos até então intangíveis sob seguridade. Assim, permitindo que as corporações possam comprovar as restituições, por meio do instituto da securitização, os eventos sinistros causados, por estas.</a:t>
            </a:r>
          </a:p>
          <a:p>
            <a:pPr marL="0" indent="0" algn="just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369DA-1B36-6F4D-1AF8-90A5F154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Securitização Corporativa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6E5759-4936-0AB2-A1AF-7ECA9D788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62817"/>
            <a:ext cx="10993029" cy="4452549"/>
          </a:xfrm>
        </p:spPr>
        <p:txBody>
          <a:bodyPr/>
          <a:lstStyle/>
          <a:p>
            <a:pPr algn="just"/>
            <a:r>
              <a:rPr lang="pt-BR" sz="28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pt-BR" sz="2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esde a incidência da Operação Lava Jato,</a:t>
            </a:r>
            <a:r>
              <a:rPr lang="pt-BR" sz="28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o </a:t>
            </a:r>
            <a:r>
              <a:rPr lang="pt-BR" sz="2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Decreto nº 8.420/2015, que regula a Lei Anticorrupção, traz em seu bojo a possibilidade de responsabilização pela própria Pessoa Jurídica, por atos praticados contra a Administração Pública.</a:t>
            </a:r>
          </a:p>
          <a:p>
            <a:pPr algn="just"/>
            <a:r>
              <a:rPr lang="pt-BR" sz="2800" b="1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Mercado de Seguro:</a:t>
            </a:r>
          </a:p>
          <a:p>
            <a:pPr marL="152392" indent="0" algn="just"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pt-BR" sz="2800" dirty="0">
                <a:latin typeface="Barlow" panose="00000500000000000000" pitchFamily="2" charset="0"/>
                <a:cs typeface="Times New Roman" panose="02020603050405020304" pitchFamily="18" charset="0"/>
              </a:rPr>
              <a:t>D&amp;O (</a:t>
            </a:r>
            <a:r>
              <a:rPr lang="pt-BR" sz="2800" dirty="0" err="1">
                <a:latin typeface="Barlow" panose="00000500000000000000" pitchFamily="2" charset="0"/>
                <a:cs typeface="Times New Roman" panose="02020603050405020304" pitchFamily="18" charset="0"/>
              </a:rPr>
              <a:t>Directors</a:t>
            </a:r>
            <a:r>
              <a:rPr lang="pt-BR" sz="2800" dirty="0">
                <a:latin typeface="Barlow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pt-BR" sz="2800" dirty="0" err="1">
                <a:latin typeface="Barlow" panose="00000500000000000000" pitchFamily="2" charset="0"/>
                <a:cs typeface="Times New Roman" panose="02020603050405020304" pitchFamily="18" charset="0"/>
              </a:rPr>
              <a:t>and</a:t>
            </a:r>
            <a:r>
              <a:rPr lang="pt-BR" sz="2800" dirty="0">
                <a:latin typeface="Barlow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pt-BR" sz="2800" dirty="0" err="1">
                <a:latin typeface="Barlow" panose="00000500000000000000" pitchFamily="2" charset="0"/>
                <a:cs typeface="Times New Roman" panose="02020603050405020304" pitchFamily="18" charset="0"/>
              </a:rPr>
              <a:t>Officers</a:t>
            </a:r>
            <a:r>
              <a:rPr lang="pt-BR" sz="2800" dirty="0">
                <a:latin typeface="Barlow" panose="00000500000000000000" pitchFamily="2" charset="0"/>
                <a:cs typeface="Times New Roman" panose="02020603050405020304" pitchFamily="18" charset="0"/>
              </a:rPr>
              <a:t>)</a:t>
            </a:r>
          </a:p>
          <a:p>
            <a:pPr marL="152392" indent="0" algn="just">
              <a:buNone/>
            </a:pPr>
            <a:r>
              <a:rPr lang="pt-BR" sz="2800" dirty="0">
                <a:latin typeface="Barlow" panose="00000500000000000000" pitchFamily="2" charset="0"/>
                <a:cs typeface="Times New Roman" panose="02020603050405020304" pitchFamily="18" charset="0"/>
              </a:rPr>
              <a:t>	Crédito de Carbono</a:t>
            </a:r>
          </a:p>
          <a:p>
            <a:pPr marL="152392" indent="0" algn="just">
              <a:buNone/>
            </a:pPr>
            <a:r>
              <a:rPr lang="pt-BR" sz="2800" dirty="0">
                <a:latin typeface="Barlow" panose="00000500000000000000" pitchFamily="2" charset="0"/>
                <a:cs typeface="Times New Roman" panose="02020603050405020304" pitchFamily="18" charset="0"/>
              </a:rPr>
              <a:t>	Incentivo em Programa Social</a:t>
            </a:r>
          </a:p>
          <a:p>
            <a:pPr marL="152392" indent="0" algn="just">
              <a:buNone/>
            </a:pPr>
            <a:endParaRPr lang="pt-BR" sz="2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521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40000" y="1905479"/>
            <a:ext cx="10785943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Eficiência frente a securitização corporativa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Marco histórico e legislações aplicáveis 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Responsabilização dos danos frente </a:t>
            </a:r>
            <a:r>
              <a:rPr lang="pt-BR" sz="2800"/>
              <a:t>a securitização corporativa</a:t>
            </a: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318</Words>
  <Application>Microsoft Office PowerPoint</Application>
  <PresentationFormat>Widescreen</PresentationFormat>
  <Paragraphs>22</Paragraphs>
  <Slides>6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Calibri Light</vt:lpstr>
      <vt:lpstr>Arial</vt:lpstr>
      <vt:lpstr>Barlow</vt:lpstr>
      <vt:lpstr>Calibri</vt:lpstr>
      <vt:lpstr>Barlow SemiBold</vt:lpstr>
      <vt:lpstr>Simple Light</vt:lpstr>
      <vt:lpstr>Personalizar design</vt:lpstr>
      <vt:lpstr>Eficiência frente a securitização corporativa</vt:lpstr>
      <vt:lpstr>Eficiência frente a securitização corporativa</vt:lpstr>
      <vt:lpstr>Eficiência frente a securitização corporativa</vt:lpstr>
      <vt:lpstr>Securitização corporativa</vt:lpstr>
      <vt:lpstr>Securitização Corporativa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13</cp:revision>
  <dcterms:modified xsi:type="dcterms:W3CDTF">2022-06-14T09:30:09Z</dcterms:modified>
</cp:coreProperties>
</file>