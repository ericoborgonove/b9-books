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  <p:sldMasterId id="2147483656" r:id="rId2"/>
  </p:sldMasterIdLst>
  <p:notesMasterIdLst>
    <p:notesMasterId r:id="rId8"/>
  </p:notesMasterIdLst>
  <p:sldIdLst>
    <p:sldId id="256" r:id="rId3"/>
    <p:sldId id="257" r:id="rId4"/>
    <p:sldId id="259" r:id="rId5"/>
    <p:sldId id="260" r:id="rId6"/>
    <p:sldId id="258" r:id="rId7"/>
  </p:sldIdLst>
  <p:sldSz cx="12192000" cy="6858000"/>
  <p:notesSz cx="6858000" cy="9144000"/>
  <p:embeddedFontLst>
    <p:embeddedFont>
      <p:font typeface="Barlow" panose="00000500000000000000" pitchFamily="2" charset="0"/>
      <p:regular r:id="rId9"/>
      <p:bold r:id="rId10"/>
      <p:italic r:id="rId11"/>
      <p:boldItalic r:id="rId12"/>
    </p:embeddedFont>
    <p:embeddedFont>
      <p:font typeface="Barlow SemiBold" panose="00000700000000000000" pitchFamily="2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29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8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13.fntdata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116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318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6dd9de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e1a6dd9de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3478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720000" y="1862817"/>
            <a:ext cx="11308000" cy="44525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FAED773-8D6C-4A3F-A76A-1389A39FC813}"/>
              </a:ext>
            </a:extLst>
          </p:cNvPr>
          <p:cNvSpPr/>
          <p:nvPr userDrawn="1"/>
        </p:nvSpPr>
        <p:spPr>
          <a:xfrm>
            <a:off x="9067800" y="90265"/>
            <a:ext cx="3035300" cy="17194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1569367"/>
            <a:ext cx="11308000" cy="47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6745589" y="1536637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7200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634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Barlow SemiBold"/>
              <a:buNone/>
              <a:defRPr sz="64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288" userDrawn="1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29327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8FE6A-9DFD-442E-AC39-A4AE89F52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44A831-FD8F-4669-AAE7-C83462F04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0013CF-4DE6-4722-B4F6-8A7CE2AD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25AD5D-9447-4C13-8786-F7580989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895474-1D1E-4CD7-AE5B-D4D9ADC3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94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DEDA9-8097-412A-A3EA-98AC8BC5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23EC6-D7C5-475C-A3D5-A5469850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DF967F-9166-4E66-A95A-FAED2E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449B4B-BD54-4D55-A06C-F325BE84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09BA9E-9FC8-4EF7-943A-F7C62141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268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447D1-533E-48BE-8CCA-F04A5AE4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92D50D-FAA4-4AB4-BFDA-3B27E774C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0BB753-132B-46EC-BB4F-F8B66F41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9E4072-187F-4221-96E7-3337DF40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8AC7F6-2422-4744-8DCC-976CAFE9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82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5323-C00D-4CF8-842D-60D661A7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E38EC7-1255-450A-853A-F62B3E100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D08221-4A44-4C08-9AA1-599495711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8CB341-417B-46E7-8BE3-B5BF4F70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B6BEF5-7C9D-44D1-89D3-D93061AA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75F8F8-134F-421A-9612-B5CCC7B8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47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29275-A899-4F06-96E3-79AB9D542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2DA2B6-8A35-424C-9C53-7BE4811BE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863168-7232-42ED-969A-4800132E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387CD7-7F77-4CDC-8B90-884A89412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F0F242-700D-4C21-9040-3CFAA6180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1CA807-EC69-4769-A80E-469D6127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DD9322-0465-4BE4-9373-EB45824EF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59B6E1-2B0F-4EA0-A9F5-74C5BB97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603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254E0-8260-401C-B681-CA75D5C5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46C151-CE0A-4C65-9D11-47A1F4C2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593F609-635F-496C-B3DF-6D478A25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17FB98-9D4A-4B76-8AE4-CAB74B6A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06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B7FA74E-BE62-41D4-B76C-08DA93C5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420BC6-E3F6-4966-8681-4E1ACD36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F612EF-69A7-4AEB-AD06-CB97299E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773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7682A-65E7-4662-B2DA-4CC11296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A5E6F3-48CD-4492-87A9-0101316A1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807024-4C12-4B6D-97F8-55D0E625E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41DD33-BE04-4E89-9151-902F8801C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0CA88-D331-4613-8477-0FA50953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24067C-B5C6-46A0-9062-00EF06A4D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217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F751F-0998-45D6-B02D-95281556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6DE0DF-4346-4073-9D58-F8B82896E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29A7DF-B042-49D4-BB23-4538F37B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788E18-CE5E-403D-8DEE-12CB0013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2768DE-8A2F-4537-931A-6E607DA0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57139C-B395-482A-AAD7-33B5B3F8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926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CE7C9-6B92-4B77-B987-E30FF6A9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444922-4F9B-4635-B156-BB66D36F1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E593D5-6282-4E7B-A972-A9F0D172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2946B6-EC90-4B5E-B238-E5DB3481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15E266-DC81-4713-8B4E-5D97666C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249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252D17-4696-4278-85CA-9DA07BDDE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44FFD8-B7A9-4D75-AC3E-BD4E43AFC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C130E0-DFCB-4D3D-A4FB-12FA19C9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387B06-984F-43C0-9493-70EC2DB1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E473B3-F4CC-4E7D-845D-BD32E944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35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B07315-3675-4F71-99D4-010BAE11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F1DDE4-7486-43E5-9C34-59202362B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EAABDA-D8AA-4C1E-8B25-C567679C9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8EA044-3A27-45D7-8C9B-3ED549D2A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87CBB4-9DFF-4959-B091-79D205708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72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r>
              <a:rPr lang="pt-BR" dirty="0"/>
              <a:t>Princípios da Governança Corporativa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  <a:cs typeface="Calibri" panose="020F0502020204030204" pitchFamily="34" charset="0"/>
              </a:rPr>
              <a:t>Princípios da Governança</a:t>
            </a:r>
            <a:endParaRPr sz="3200" b="1" dirty="0">
              <a:solidFill>
                <a:srgbClr val="FF0000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40000" y="2173574"/>
            <a:ext cx="11210486" cy="42034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Defende o IBGC quanto aos princípios que: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 “as boas práticas de governança corporativa convertem </a:t>
            </a:r>
            <a:r>
              <a:rPr lang="pt-BR" sz="2800" b="1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princípios</a:t>
            </a: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 em recomendações objetivas, alinhando interesses com a finalidade de preservar e otimizar o valor da organização, facilitando seu acesso ao capital e contribuindo para a sua longevidade" (IBGC,2009, p.18).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</a:rPr>
              <a:t>Princípios atrelados a Governança, segundo IBGC :</a:t>
            </a:r>
            <a:endParaRPr sz="3200" dirty="0">
              <a:latin typeface="Barlow" panose="00000500000000000000" pitchFamily="2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4248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indent="-457200" algn="just"/>
            <a:r>
              <a:rPr lang="pt-BR" sz="2800" dirty="0"/>
              <a:t>Transparência</a:t>
            </a:r>
          </a:p>
          <a:p>
            <a:pPr marL="457200" indent="-457200" algn="just"/>
            <a:endParaRPr lang="pt-BR" sz="2800" dirty="0"/>
          </a:p>
          <a:p>
            <a:pPr marL="457200" indent="-457200" algn="just"/>
            <a:r>
              <a:rPr lang="pt-BR" sz="2800" dirty="0"/>
              <a:t>Equidade</a:t>
            </a:r>
          </a:p>
          <a:p>
            <a:pPr marL="457200" indent="-457200" algn="just"/>
            <a:endParaRPr lang="pt-BR" sz="2800" dirty="0"/>
          </a:p>
          <a:p>
            <a:pPr marL="457200" indent="-457200" algn="just"/>
            <a:r>
              <a:rPr lang="pt-BR" sz="2800" dirty="0"/>
              <a:t>Prestação de contas </a:t>
            </a:r>
          </a:p>
          <a:p>
            <a:pPr marL="457200" indent="-457200" algn="just"/>
            <a:endParaRPr lang="pt-BR" sz="2800" dirty="0"/>
          </a:p>
          <a:p>
            <a:pPr marL="457200" indent="-457200" algn="just"/>
            <a:r>
              <a:rPr lang="pt-BR" sz="2800" dirty="0"/>
              <a:t>Responsabilidade Corporativa</a:t>
            </a:r>
          </a:p>
        </p:txBody>
      </p:sp>
    </p:spTree>
    <p:extLst>
      <p:ext uri="{BB962C8B-B14F-4D97-AF65-F5344CB8AC3E}">
        <p14:creationId xmlns:p14="http://schemas.microsoft.com/office/powerpoint/2010/main" val="44974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Governança como inovação </a:t>
            </a:r>
            <a:endParaRPr sz="3200" dirty="0"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67520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buNone/>
            </a:pP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Organização para a Cooperação e Desenvolvimento Econômico – </a:t>
            </a:r>
            <a:r>
              <a:rPr lang="pt-BR" sz="2800" b="1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OCDE</a:t>
            </a:r>
          </a:p>
          <a:p>
            <a:pPr marL="0" indent="0" algn="just">
              <a:buNone/>
            </a:pPr>
            <a:endParaRPr lang="pt-BR" sz="2800" b="1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  <p:pic>
        <p:nvPicPr>
          <p:cNvPr id="4" name="Imagem 3" descr="Diagrama&#10;&#10;Descrição gerada automaticamente">
            <a:extLst>
              <a:ext uri="{FF2B5EF4-FFF2-40B4-BE49-F238E27FC236}">
                <a16:creationId xmlns:a16="http://schemas.microsoft.com/office/drawing/2014/main" id="{02A40C61-8A2E-47BA-7D2D-094CF4BE68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7" t="14399" r="12620" b="614"/>
          <a:stretch/>
        </p:blipFill>
        <p:spPr bwMode="auto">
          <a:xfrm>
            <a:off x="4467827" y="3066758"/>
            <a:ext cx="3812345" cy="33059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62312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244039" cy="170045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PONTOS PRINCIPAIS ABORDADOS NA AULA</a:t>
            </a:r>
            <a:endParaRPr sz="3200" dirty="0"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840000" y="1905479"/>
            <a:ext cx="11308000" cy="445485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Importância dos Princípios na Governança Corporativa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Princípios segundo IBGC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Princípios segundo OCDE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endParaRPr lang="pt-BR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108</Words>
  <Application>Microsoft Office PowerPoint</Application>
  <PresentationFormat>Widescreen</PresentationFormat>
  <Paragraphs>20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Calibri Light</vt:lpstr>
      <vt:lpstr>Arial</vt:lpstr>
      <vt:lpstr>Barlow</vt:lpstr>
      <vt:lpstr>Calibri</vt:lpstr>
      <vt:lpstr>Barlow SemiBold</vt:lpstr>
      <vt:lpstr>Simple Light</vt:lpstr>
      <vt:lpstr>Personalizar design</vt:lpstr>
      <vt:lpstr>Princípios da Governança Corporativa</vt:lpstr>
      <vt:lpstr>Princípios da Governança</vt:lpstr>
      <vt:lpstr>Princípios atrelados a Governança, segundo IBGC :</vt:lpstr>
      <vt:lpstr>Governança como inovação </vt:lpstr>
      <vt:lpstr>PONTOS PRINCIPAIS ABORDADOS NA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NOÇÕES INTRODUTÓRIAS DE DIREITO PENAL</dc:title>
  <cp:lastModifiedBy>debora paiva</cp:lastModifiedBy>
  <cp:revision>14</cp:revision>
  <dcterms:modified xsi:type="dcterms:W3CDTF">2022-06-14T01:04:37Z</dcterms:modified>
</cp:coreProperties>
</file>