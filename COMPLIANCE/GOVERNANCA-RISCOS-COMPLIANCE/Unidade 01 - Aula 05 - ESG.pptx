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9"/>
  </p:notesMasterIdLst>
  <p:sldIdLst>
    <p:sldId id="256" r:id="rId3"/>
    <p:sldId id="257" r:id="rId4"/>
    <p:sldId id="259" r:id="rId5"/>
    <p:sldId id="261" r:id="rId6"/>
    <p:sldId id="260" r:id="rId7"/>
    <p:sldId id="258" r:id="rId8"/>
  </p:sldIdLst>
  <p:sldSz cx="12192000" cy="6858000"/>
  <p:notesSz cx="6858000" cy="9144000"/>
  <p:embeddedFontLst>
    <p:embeddedFont>
      <p:font typeface="Barlow" panose="00000500000000000000" pitchFamily="2" charset="0"/>
      <p:regular r:id="rId10"/>
      <p:bold r:id="rId11"/>
      <p:italic r:id="rId12"/>
      <p:boldItalic r:id="rId13"/>
    </p:embeddedFont>
    <p:embeddedFont>
      <p:font typeface="Barlow SemiBold" panose="00000700000000000000" pitchFamily="2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44" d="100"/>
          <a:sy n="44" d="100"/>
        </p:scale>
        <p:origin x="78" y="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506686" y="1558400"/>
            <a:ext cx="7380514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sz="2400" i="1" dirty="0"/>
              <a:t>Teoria </a:t>
            </a:r>
            <a:r>
              <a:rPr lang="pt-BR" sz="2400" i="1" dirty="0" err="1"/>
              <a:t>Environment</a:t>
            </a:r>
            <a:r>
              <a:rPr lang="pt-BR" sz="2400" i="1" dirty="0"/>
              <a:t>, Social </a:t>
            </a:r>
            <a:r>
              <a:rPr lang="pt-BR" sz="2400" i="1" dirty="0" err="1"/>
              <a:t>and</a:t>
            </a:r>
            <a:r>
              <a:rPr lang="pt-BR" sz="2400" i="1" dirty="0"/>
              <a:t> Corporate Governance </a:t>
            </a:r>
            <a:r>
              <a:rPr lang="pt-BR" sz="2400" dirty="0"/>
              <a:t> ESG 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Mas, o que é ESG ?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1210486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Refrete na importância da </a:t>
            </a: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qualidade de vida </a:t>
            </a: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e </a:t>
            </a: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transparência</a:t>
            </a: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 nas decisões, no trato das ações institucionais, visando promover a continuidade, não só da saúde financeira da empresa, como também dos indivíduos nela inseridos, bem como o </a:t>
            </a: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meio ambiente </a:t>
            </a: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preservado para as </a:t>
            </a: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próximas gerações</a:t>
            </a: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Objetivos do ESG</a:t>
            </a:r>
            <a:endParaRPr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/>
            <a:r>
              <a:rPr lang="pt-BR" sz="2800" b="1" i="1" dirty="0" err="1"/>
              <a:t>Environment</a:t>
            </a:r>
            <a:r>
              <a:rPr lang="pt-BR" sz="2800" b="1" i="1" dirty="0"/>
              <a:t>  </a:t>
            </a:r>
            <a:r>
              <a:rPr lang="pt-BR" sz="2800" b="1" dirty="0"/>
              <a:t>(Ambiental)</a:t>
            </a:r>
          </a:p>
          <a:p>
            <a:pPr marL="0" indent="0" algn="just">
              <a:buNone/>
            </a:pPr>
            <a:r>
              <a:rPr lang="pt-BR" sz="2800" i="1" dirty="0"/>
              <a:t>conservação do meio ambiente, aquecimento global e a emissão de carbono </a:t>
            </a:r>
          </a:p>
          <a:p>
            <a:pPr marL="0" indent="0" algn="just">
              <a:buNone/>
            </a:pPr>
            <a:endParaRPr lang="pt-BR" sz="2800" i="1" dirty="0"/>
          </a:p>
          <a:p>
            <a:pPr marL="457200" indent="-457200" algn="just"/>
            <a:r>
              <a:rPr lang="pt-BR" sz="2800" b="1" i="1" dirty="0"/>
              <a:t>Social </a:t>
            </a:r>
          </a:p>
          <a:p>
            <a:pPr marL="0" indent="0" algn="just">
              <a:buNone/>
            </a:pPr>
            <a:r>
              <a:rPr lang="pt-BR" sz="2800" i="1" dirty="0"/>
              <a:t>Relações interpessoais internas e relacionamento com a comunidade</a:t>
            </a:r>
          </a:p>
          <a:p>
            <a:pPr marL="0" indent="0" algn="just">
              <a:buNone/>
            </a:pPr>
            <a:endParaRPr lang="pt-BR" sz="2800" i="1" dirty="0"/>
          </a:p>
          <a:p>
            <a:pPr marL="457200" indent="-457200" algn="just"/>
            <a:r>
              <a:rPr lang="pt-BR" sz="2800" b="1" i="1" dirty="0"/>
              <a:t>Governance</a:t>
            </a:r>
          </a:p>
          <a:p>
            <a:pPr marL="0" indent="0" algn="just">
              <a:buNone/>
            </a:pPr>
            <a:r>
              <a:rPr lang="pt-BR" sz="2800" i="1" dirty="0"/>
              <a:t>conduta corporativa, a relação com governos, canal de denúncias</a:t>
            </a:r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DEF32-39E7-F09F-677F-4CFB247B5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do mercado no que tange ESG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D194C7-3402-2792-C774-EDC688B53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2800" dirty="0"/>
              <a:t>95 % dos investidores </a:t>
            </a:r>
            <a:r>
              <a:rPr lang="pt-BR" sz="2800" dirty="0" err="1"/>
              <a:t>Millenniais</a:t>
            </a:r>
            <a:r>
              <a:rPr lang="pt-BR" sz="2800" dirty="0"/>
              <a:t> tem interesse em investimentos sustentáveis;</a:t>
            </a:r>
          </a:p>
          <a:p>
            <a:endParaRPr lang="pt-BR" sz="2800" dirty="0"/>
          </a:p>
          <a:p>
            <a:r>
              <a:rPr lang="pt-BR" sz="2800" dirty="0"/>
              <a:t>88% das empresas brasileiras preferem se relacionar com empresas que tenham diversidade em sua estrutura;</a:t>
            </a:r>
          </a:p>
          <a:p>
            <a:endParaRPr lang="pt-BR" sz="2800" dirty="0"/>
          </a:p>
          <a:p>
            <a:r>
              <a:rPr lang="pt-BR" sz="2800" dirty="0"/>
              <a:t>54% as sociedade considera transparência como uma das três qualidades mais importantes da empresa;</a:t>
            </a:r>
          </a:p>
        </p:txBody>
      </p:sp>
    </p:spTree>
    <p:extLst>
      <p:ext uri="{BB962C8B-B14F-4D97-AF65-F5344CB8AC3E}">
        <p14:creationId xmlns:p14="http://schemas.microsoft.com/office/powerpoint/2010/main" val="1778603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Movimentações da ONU na busca pelo desenvolvimento Sustentável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>
              <a:latin typeface="Barlow" panose="00000500000000000000" pitchFamily="2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Barlow" panose="00000500000000000000" pitchFamily="2" charset="0"/>
                <a:cs typeface="Arial" panose="020B0604020202020204" pitchFamily="34" charset="0"/>
              </a:rPr>
              <a:t>Pacto Global  - 2000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>
              <a:latin typeface="Barlow" panose="00000500000000000000" pitchFamily="2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Barlow" panose="00000500000000000000" pitchFamily="2" charset="0"/>
                <a:cs typeface="Arial" panose="020B0604020202020204" pitchFamily="34" charset="0"/>
              </a:rPr>
              <a:t>Objetivos de Desenvolvimento do Milênio - 2000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>
              <a:latin typeface="Barlow" panose="00000500000000000000" pitchFamily="2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Barlow" panose="00000500000000000000" pitchFamily="2" charset="0"/>
                <a:cs typeface="Arial" panose="020B0604020202020204" pitchFamily="34" charset="0"/>
              </a:rPr>
              <a:t>Agenda 2030 – 2015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>
              <a:latin typeface="Barlow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Conceito da ESG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Movimentações da ONU sobre desenvolvimento sustentável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Dados do mercado ESG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196</Words>
  <Application>Microsoft Office PowerPoint</Application>
  <PresentationFormat>Widescreen</PresentationFormat>
  <Paragraphs>32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Calibri Light</vt:lpstr>
      <vt:lpstr>Arial</vt:lpstr>
      <vt:lpstr>Barlow</vt:lpstr>
      <vt:lpstr>Calibri</vt:lpstr>
      <vt:lpstr>Barlow SemiBold</vt:lpstr>
      <vt:lpstr>Simple Light</vt:lpstr>
      <vt:lpstr>Personalizar design</vt:lpstr>
      <vt:lpstr>Teoria Environment, Social and Corporate Governance  ESG </vt:lpstr>
      <vt:lpstr>Mas, o que é ESG ?</vt:lpstr>
      <vt:lpstr>Objetivos do ESG</vt:lpstr>
      <vt:lpstr>Dados do mercado no que tange ESG</vt:lpstr>
      <vt:lpstr>Movimentações da ONU na busca pelo desenvolvimento Sustentável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13</cp:revision>
  <dcterms:modified xsi:type="dcterms:W3CDTF">2022-06-14T01:58:44Z</dcterms:modified>
</cp:coreProperties>
</file>