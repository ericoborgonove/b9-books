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5" r:id="rId1"/>
    <p:sldMasterId id="2147483656" r:id="rId2"/>
  </p:sldMasterIdLst>
  <p:notesMasterIdLst>
    <p:notesMasterId r:id="rId10"/>
  </p:notesMasterIdLst>
  <p:sldIdLst>
    <p:sldId id="256" r:id="rId3"/>
    <p:sldId id="257" r:id="rId4"/>
    <p:sldId id="259" r:id="rId5"/>
    <p:sldId id="260" r:id="rId6"/>
    <p:sldId id="262" r:id="rId7"/>
    <p:sldId id="261" r:id="rId8"/>
    <p:sldId id="258" r:id="rId9"/>
  </p:sldIdLst>
  <p:sldSz cx="12192000" cy="6858000"/>
  <p:notesSz cx="6858000" cy="9144000"/>
  <p:embeddedFontLst>
    <p:embeddedFont>
      <p:font typeface="Barlow" panose="00000500000000000000" pitchFamily="2" charset="0"/>
      <p:regular r:id="rId11"/>
      <p:bold r:id="rId12"/>
      <p:italic r:id="rId13"/>
      <p:boldItalic r:id="rId14"/>
    </p:embeddedFont>
    <p:embeddedFont>
      <p:font typeface="Barlow SemiBold" panose="00000700000000000000" pitchFamily="2" charset="0"/>
      <p:regular r:id="rId15"/>
      <p:bold r:id="rId16"/>
      <p:italic r:id="rId17"/>
      <p:boldItalic r:id="rId18"/>
    </p:embeddedFont>
    <p:embeddedFont>
      <p:font typeface="Calibri" panose="020F0502020204030204" pitchFamily="34" charset="0"/>
      <p:regular r:id="rId19"/>
      <p:bold r:id="rId20"/>
      <p:italic r:id="rId21"/>
      <p:boldItalic r:id="rId22"/>
    </p:embeddedFont>
    <p:embeddedFont>
      <p:font typeface="Calibri Light" panose="020F0302020204030204" pitchFamily="34" charset="0"/>
      <p:regular r:id="rId23"/>
      <p: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029" autoAdjust="0"/>
    <p:restoredTop sz="94660"/>
  </p:normalViewPr>
  <p:slideViewPr>
    <p:cSldViewPr snapToGrid="0">
      <p:cViewPr varScale="1">
        <p:scale>
          <a:sx n="68" d="100"/>
          <a:sy n="68" d="100"/>
        </p:scale>
        <p:origin x="1182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font" Target="fonts/font11.fntdata"/><Relationship Id="rId7" Type="http://schemas.openxmlformats.org/officeDocument/2006/relationships/slide" Target="slides/slide5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1.fntdata"/><Relationship Id="rId24" Type="http://schemas.openxmlformats.org/officeDocument/2006/relationships/font" Target="fonts/font14.fntdata"/><Relationship Id="rId5" Type="http://schemas.openxmlformats.org/officeDocument/2006/relationships/slide" Target="slides/slide3.xml"/><Relationship Id="rId15" Type="http://schemas.openxmlformats.org/officeDocument/2006/relationships/font" Target="fonts/font5.fntdata"/><Relationship Id="rId23" Type="http://schemas.openxmlformats.org/officeDocument/2006/relationships/font" Target="fonts/font13.fntdata"/><Relationship Id="rId28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" name="Google Shape;3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e0f25ceeac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e0f25ceeac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e0f25ceeac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e0f25ceeac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851169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e0f25ceeac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e0f25ceeac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213181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e1a6dd9dea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Google Shape;49;ge1a6dd9dea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1" name="Google Shape;11;p2"/>
          <p:cNvSpPr txBox="1">
            <a:spLocks noGrp="1"/>
          </p:cNvSpPr>
          <p:nvPr>
            <p:ph type="title"/>
          </p:nvPr>
        </p:nvSpPr>
        <p:spPr>
          <a:xfrm>
            <a:off x="4704800" y="1558400"/>
            <a:ext cx="7088400" cy="374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720000" y="143333"/>
            <a:ext cx="8347800" cy="126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Barlow SemiBold"/>
              <a:buNone/>
              <a:defRPr sz="2667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14" name="Google Shape;14;p3"/>
          <p:cNvSpPr txBox="1">
            <a:spLocks noGrp="1"/>
          </p:cNvSpPr>
          <p:nvPr>
            <p:ph type="body" idx="1"/>
          </p:nvPr>
        </p:nvSpPr>
        <p:spPr>
          <a:xfrm>
            <a:off x="720000" y="1862817"/>
            <a:ext cx="11308000" cy="445254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70" lvl="0" indent="-457178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800"/>
              <a:buFont typeface="Barlow"/>
              <a:buChar char="●"/>
              <a:defRPr>
                <a:latin typeface="Barlow"/>
                <a:ea typeface="Barlow"/>
                <a:cs typeface="Barlow"/>
                <a:sym typeface="Barlow"/>
              </a:defRPr>
            </a:lvl1pPr>
            <a:lvl2pPr marL="1219140" lvl="1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2pPr>
            <a:lvl3pPr marL="1828709" lvl="2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■"/>
              <a:defRPr>
                <a:latin typeface="Barlow"/>
                <a:ea typeface="Barlow"/>
                <a:cs typeface="Barlow"/>
                <a:sym typeface="Barlow"/>
              </a:defRPr>
            </a:lvl3pPr>
            <a:lvl4pPr marL="2438278" lvl="3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●"/>
              <a:defRPr>
                <a:latin typeface="Barlow"/>
                <a:ea typeface="Barlow"/>
                <a:cs typeface="Barlow"/>
                <a:sym typeface="Barlow"/>
              </a:defRPr>
            </a:lvl4pPr>
            <a:lvl5pPr marL="3047848" lvl="4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5pPr>
            <a:lvl6pPr marL="3657418" lvl="5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■"/>
              <a:defRPr>
                <a:latin typeface="Barlow"/>
                <a:ea typeface="Barlow"/>
                <a:cs typeface="Barlow"/>
                <a:sym typeface="Barlow"/>
              </a:defRPr>
            </a:lvl6pPr>
            <a:lvl7pPr marL="4266987" lvl="6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●"/>
              <a:defRPr>
                <a:latin typeface="Barlow"/>
                <a:ea typeface="Barlow"/>
                <a:cs typeface="Barlow"/>
                <a:sym typeface="Barlow"/>
              </a:defRPr>
            </a:lvl7pPr>
            <a:lvl8pPr marL="4876557" lvl="7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8pPr>
            <a:lvl9pPr marL="5486126" lvl="8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■"/>
              <a:defRPr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 dirty="0"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FAED773-8D6C-4A3F-A76A-1389A39FC813}"/>
              </a:ext>
            </a:extLst>
          </p:cNvPr>
          <p:cNvSpPr/>
          <p:nvPr userDrawn="1"/>
        </p:nvSpPr>
        <p:spPr>
          <a:xfrm>
            <a:off x="9067800" y="90265"/>
            <a:ext cx="3035300" cy="171948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53" userDrawn="1">
          <p15:clr>
            <a:srgbClr val="FA7B17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1">
  <p:cSld name="TITLE_AND_BODY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720000" y="143333"/>
            <a:ext cx="8959600" cy="126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Barlow SemiBold"/>
              <a:buNone/>
              <a:defRPr sz="2667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720000" y="1569367"/>
            <a:ext cx="11308000" cy="474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70" lvl="0" indent="-457178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800"/>
              <a:buFont typeface="Barlow"/>
              <a:buChar char="●"/>
              <a:defRPr>
                <a:latin typeface="Barlow"/>
                <a:ea typeface="Barlow"/>
                <a:cs typeface="Barlow"/>
                <a:sym typeface="Barlow"/>
              </a:defRPr>
            </a:lvl1pPr>
            <a:lvl2pPr marL="1219140" lvl="1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2pPr>
            <a:lvl3pPr marL="1828709" lvl="2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■"/>
              <a:defRPr>
                <a:latin typeface="Barlow"/>
                <a:ea typeface="Barlow"/>
                <a:cs typeface="Barlow"/>
                <a:sym typeface="Barlow"/>
              </a:defRPr>
            </a:lvl3pPr>
            <a:lvl4pPr marL="2438278" lvl="3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●"/>
              <a:defRPr>
                <a:latin typeface="Barlow"/>
                <a:ea typeface="Barlow"/>
                <a:cs typeface="Barlow"/>
                <a:sym typeface="Barlow"/>
              </a:defRPr>
            </a:lvl4pPr>
            <a:lvl5pPr marL="3047848" lvl="4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5pPr>
            <a:lvl6pPr marL="3657418" lvl="5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■"/>
              <a:defRPr>
                <a:latin typeface="Barlow"/>
                <a:ea typeface="Barlow"/>
                <a:cs typeface="Barlow"/>
                <a:sym typeface="Barlow"/>
              </a:defRPr>
            </a:lvl6pPr>
            <a:lvl7pPr marL="4266987" lvl="6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●"/>
              <a:defRPr>
                <a:latin typeface="Barlow"/>
                <a:ea typeface="Barlow"/>
                <a:cs typeface="Barlow"/>
                <a:sym typeface="Barlow"/>
              </a:defRPr>
            </a:lvl7pPr>
            <a:lvl8pPr marL="4876557" lvl="7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8pPr>
            <a:lvl9pPr marL="5486126" lvl="8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■"/>
              <a:defRPr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53" userDrawn="1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body" idx="1"/>
          </p:nvPr>
        </p:nvSpPr>
        <p:spPr>
          <a:xfrm>
            <a:off x="6745589" y="1536637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70" lvl="0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●"/>
              <a:defRPr sz="1867">
                <a:latin typeface="Barlow"/>
                <a:ea typeface="Barlow"/>
                <a:cs typeface="Barlow"/>
                <a:sym typeface="Barlow"/>
              </a:defRPr>
            </a:lvl1pPr>
            <a:lvl2pPr marL="1219140" lvl="1" indent="-406381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○"/>
              <a:defRPr sz="1600">
                <a:latin typeface="Barlow"/>
                <a:ea typeface="Barlow"/>
                <a:cs typeface="Barlow"/>
                <a:sym typeface="Barlow"/>
              </a:defRPr>
            </a:lvl2pPr>
            <a:lvl3pPr marL="1828709" lvl="2" indent="-406381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■"/>
              <a:defRPr sz="1600">
                <a:latin typeface="Barlow"/>
                <a:ea typeface="Barlow"/>
                <a:cs typeface="Barlow"/>
                <a:sym typeface="Barlow"/>
              </a:defRPr>
            </a:lvl3pPr>
            <a:lvl4pPr marL="2438278" lvl="3" indent="-406381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●"/>
              <a:defRPr sz="1600">
                <a:latin typeface="Barlow"/>
                <a:ea typeface="Barlow"/>
                <a:cs typeface="Barlow"/>
                <a:sym typeface="Barlow"/>
              </a:defRPr>
            </a:lvl4pPr>
            <a:lvl5pPr marL="3047848" lvl="4" indent="-406381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○"/>
              <a:defRPr sz="1600">
                <a:latin typeface="Barlow"/>
                <a:ea typeface="Barlow"/>
                <a:cs typeface="Barlow"/>
                <a:sym typeface="Barlow"/>
              </a:defRPr>
            </a:lvl5pPr>
            <a:lvl6pPr marL="3657418" lvl="5" indent="-406381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■"/>
              <a:defRPr sz="1600">
                <a:latin typeface="Barlow"/>
                <a:ea typeface="Barlow"/>
                <a:cs typeface="Barlow"/>
                <a:sym typeface="Barlow"/>
              </a:defRPr>
            </a:lvl6pPr>
            <a:lvl7pPr marL="4266987" lvl="6" indent="-406381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●"/>
              <a:defRPr sz="1600">
                <a:latin typeface="Barlow"/>
                <a:ea typeface="Barlow"/>
                <a:cs typeface="Barlow"/>
                <a:sym typeface="Barlow"/>
              </a:defRPr>
            </a:lvl7pPr>
            <a:lvl8pPr marL="4876557" lvl="7" indent="-406381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○"/>
              <a:defRPr sz="1600">
                <a:latin typeface="Barlow"/>
                <a:ea typeface="Barlow"/>
                <a:cs typeface="Barlow"/>
                <a:sym typeface="Barlow"/>
              </a:defRPr>
            </a:lvl8pPr>
            <a:lvl9pPr marL="5486126" lvl="8" indent="-406381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■"/>
              <a:defRPr sz="1600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2"/>
          </p:nvPr>
        </p:nvSpPr>
        <p:spPr>
          <a:xfrm>
            <a:off x="7200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70" lvl="0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●"/>
              <a:defRPr sz="1867">
                <a:latin typeface="Barlow"/>
                <a:ea typeface="Barlow"/>
                <a:cs typeface="Barlow"/>
                <a:sym typeface="Barlow"/>
              </a:defRPr>
            </a:lvl1pPr>
            <a:lvl2pPr marL="1219140" lvl="1" indent="-406381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○"/>
              <a:defRPr sz="1600">
                <a:latin typeface="Barlow"/>
                <a:ea typeface="Barlow"/>
                <a:cs typeface="Barlow"/>
                <a:sym typeface="Barlow"/>
              </a:defRPr>
            </a:lvl2pPr>
            <a:lvl3pPr marL="1828709" lvl="2" indent="-406381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■"/>
              <a:defRPr sz="1600">
                <a:latin typeface="Barlow"/>
                <a:ea typeface="Barlow"/>
                <a:cs typeface="Barlow"/>
                <a:sym typeface="Barlow"/>
              </a:defRPr>
            </a:lvl3pPr>
            <a:lvl4pPr marL="2438278" lvl="3" indent="-406381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●"/>
              <a:defRPr sz="1600">
                <a:latin typeface="Barlow"/>
                <a:ea typeface="Barlow"/>
                <a:cs typeface="Barlow"/>
                <a:sym typeface="Barlow"/>
              </a:defRPr>
            </a:lvl4pPr>
            <a:lvl5pPr marL="3047848" lvl="4" indent="-406381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○"/>
              <a:defRPr sz="1600">
                <a:latin typeface="Barlow"/>
                <a:ea typeface="Barlow"/>
                <a:cs typeface="Barlow"/>
                <a:sym typeface="Barlow"/>
              </a:defRPr>
            </a:lvl5pPr>
            <a:lvl6pPr marL="3657418" lvl="5" indent="-406381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■"/>
              <a:defRPr sz="1600">
                <a:latin typeface="Barlow"/>
                <a:ea typeface="Barlow"/>
                <a:cs typeface="Barlow"/>
                <a:sym typeface="Barlow"/>
              </a:defRPr>
            </a:lvl6pPr>
            <a:lvl7pPr marL="4266987" lvl="6" indent="-406381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●"/>
              <a:defRPr sz="1600">
                <a:latin typeface="Barlow"/>
                <a:ea typeface="Barlow"/>
                <a:cs typeface="Barlow"/>
                <a:sym typeface="Barlow"/>
              </a:defRPr>
            </a:lvl7pPr>
            <a:lvl8pPr marL="4876557" lvl="7" indent="-406381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○"/>
              <a:defRPr sz="1600">
                <a:latin typeface="Barlow"/>
                <a:ea typeface="Barlow"/>
                <a:cs typeface="Barlow"/>
                <a:sym typeface="Barlow"/>
              </a:defRPr>
            </a:lvl8pPr>
            <a:lvl9pPr marL="5486126" lvl="8" indent="-406381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■"/>
              <a:defRPr sz="1600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720000" y="143333"/>
            <a:ext cx="8959600" cy="126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Barlow SemiBold"/>
              <a:buNone/>
              <a:defRPr sz="2667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53" userDrawn="1">
          <p15:clr>
            <a:srgbClr val="FA7B17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76344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Font typeface="Barlow SemiBold"/>
              <a:buNone/>
              <a:defRPr sz="6400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288" userDrawn="1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rgbClr val="29327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70" lvl="0" indent="-45717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Barlow"/>
              <a:buChar char="●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1219140" lvl="1" indent="-42331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○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828709" lvl="2" indent="-42331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■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2438278" lvl="3" indent="-42331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●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3047848" lvl="4" indent="-42331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○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3657418" lvl="5" indent="-42331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■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4266987" lvl="6" indent="-42331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●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4876557" lvl="7" indent="-42331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○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5486126" lvl="8" indent="-42331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■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48FE6A-9DFD-442E-AC39-A4AE89F52C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444A831-FD8F-4669-AAE7-C83462F047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60013CF-4DE6-4722-B4F6-8A7CE2AD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21/07/2022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125AD5D-9447-4C13-8786-F75809899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0895474-1D1E-4CD7-AE5B-D4D9ADC30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39401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EDEDA9-8097-412A-A3EA-98AC8BC55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CD23EC6-D7C5-475C-A3D5-A546985067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8DF967F-9166-4E66-A95A-FAED2EBE6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21/07/2022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E449B4B-BD54-4D55-A06C-F325BE844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809BA9E-9FC8-4EF7-943A-F7C621411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2680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9447D1-533E-48BE-8CCA-F04A5AE49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A92D50D-FAA4-4AB4-BFDA-3B27E774CC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20BB753-132B-46EC-BB4F-F8B66F41B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21/07/2022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39E4072-187F-4221-96E7-3337DF406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08AC7F6-2422-4744-8DCC-976CAFE9B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61820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E65323-C00D-4CF8-842D-60D661A7D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E38EC7-1255-450A-853A-F62B3E100C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DD08221-4A44-4C08-9AA1-5994957115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88CB341-417B-46E7-8BE3-B5BF4F705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21/07/2022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7B6BEF5-7C9D-44D1-89D3-D93061AA3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E75F8F8-134F-421A-9612-B5CCC7B89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04771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429275-A899-4F06-96E3-79AB9D542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C2DA2B6-8A35-424C-9C53-7BE4811BE7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5863168-7232-42ED-969A-4800132ED8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0387CD7-7F77-4CDC-8B90-884A89412C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BF0F242-700D-4C21-9040-3CFAA61803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D1CA807-EC69-4769-A80E-469D6127E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21/07/2022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DDD9322-0465-4BE4-9373-EB45824EF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359B6E1-2B0F-4EA0-A9F5-74C5BB97B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96031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8254E0-8260-401C-B681-CA75D5C54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646C151-CE0A-4C65-9D11-47A1F4C29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21/07/2022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593F609-635F-496C-B3DF-6D478A256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A17FB98-9D4A-4B76-8AE4-CAB74B6AA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9060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B7FA74E-BE62-41D4-B76C-08DA93C5D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21/07/2022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8420BC6-E3F6-4966-8681-4E1ACD36D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EF612EF-69A7-4AEB-AD06-CB97299ED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97732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F7682A-65E7-4662-B2DA-4CC112962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BA5E6F3-48CD-4492-87A9-0101316A13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F807024-4C12-4B6D-97F8-55D0E625E0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341DD33-BE04-4E89-9151-902F8801C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21/07/2022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150CA88-D331-4613-8477-0FA50953D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E24067C-B5C6-46A0-9062-00EF06A4D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82174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1F751F-0998-45D6-B02D-952815569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16DE0DF-4346-4073-9D58-F8B82896E3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329A7DF-B042-49D4-BB23-4538F37BF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A788E18-CE5E-403D-8DEE-12CB00138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21/07/2022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22768DE-8A2F-4537-931A-6E607DA02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557139C-B395-482A-AAD7-33B5B3F83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779261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FCE7C9-6B92-4B77-B987-E30FF6A93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D444922-4F9B-4635-B156-BB66D36F1B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BE593D5-6282-4E7B-A972-A9F0D1724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21/07/2022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A2946B6-EC90-4B5E-B238-E5DB34810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D15E266-DC81-4713-8B4E-5D97666CD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82496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9252D17-4696-4278-85CA-9DA07BDDE3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F44FFD8-B7A9-4D75-AC3E-BD4E43AFC4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BC130E0-DFCB-4D3D-A4FB-12FA19C9D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21/07/2022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8387B06-984F-43C0-9493-70EC2DB15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6E473B3-F4CC-4E7D-845D-BD32E9444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7359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333">
                <a:solidFill>
                  <a:schemeClr val="dk2"/>
                </a:solidFill>
              </a:defRPr>
            </a:lvl1pPr>
            <a:lvl2pPr lvl="1" algn="r">
              <a:buNone/>
              <a:defRPr sz="1333">
                <a:solidFill>
                  <a:schemeClr val="dk2"/>
                </a:solidFill>
              </a:defRPr>
            </a:lvl2pPr>
            <a:lvl3pPr lvl="2" algn="r">
              <a:buNone/>
              <a:defRPr sz="1333">
                <a:solidFill>
                  <a:schemeClr val="dk2"/>
                </a:solidFill>
              </a:defRPr>
            </a:lvl3pPr>
            <a:lvl4pPr lvl="3" algn="r">
              <a:buNone/>
              <a:defRPr sz="1333">
                <a:solidFill>
                  <a:schemeClr val="dk2"/>
                </a:solidFill>
              </a:defRPr>
            </a:lvl4pPr>
            <a:lvl5pPr lvl="4" algn="r">
              <a:buNone/>
              <a:defRPr sz="1333">
                <a:solidFill>
                  <a:schemeClr val="dk2"/>
                </a:solidFill>
              </a:defRPr>
            </a:lvl5pPr>
            <a:lvl6pPr lvl="5" algn="r">
              <a:buNone/>
              <a:defRPr sz="1333">
                <a:solidFill>
                  <a:schemeClr val="dk2"/>
                </a:solidFill>
              </a:defRPr>
            </a:lvl6pPr>
            <a:lvl7pPr lvl="6" algn="r">
              <a:buNone/>
              <a:defRPr sz="1333">
                <a:solidFill>
                  <a:schemeClr val="dk2"/>
                </a:solidFill>
              </a:defRPr>
            </a:lvl7pPr>
            <a:lvl8pPr lvl="7" algn="r">
              <a:buNone/>
              <a:defRPr sz="1333">
                <a:solidFill>
                  <a:schemeClr val="dk2"/>
                </a:solidFill>
              </a:defRPr>
            </a:lvl8pPr>
            <a:lvl9pPr lvl="8" algn="r">
              <a:buNone/>
              <a:defRPr sz="1333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65B07315-3675-4F71-99D4-010BAE11B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8F1DDE4-7486-43E5-9C34-59202362B4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1EAABDA-D8AA-4C1E-8B25-C567679C9A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0939EE-FC1A-48A1-98E7-CA57C24E5986}" type="datetimeFigureOut">
              <a:rPr lang="pt-BR" smtClean="0"/>
              <a:t>21/07/2022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98EA044-3A27-45D7-8C9B-3ED549D2AE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687CBB4-9DFF-4959-B091-79D205708C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1725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 txBox="1">
            <a:spLocks noGrp="1"/>
          </p:cNvSpPr>
          <p:nvPr>
            <p:ph type="title"/>
          </p:nvPr>
        </p:nvSpPr>
        <p:spPr>
          <a:xfrm>
            <a:off x="4704800" y="1558400"/>
            <a:ext cx="7088400" cy="37412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r>
              <a:rPr lang="pt-BR" dirty="0"/>
              <a:t>Controle Interno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title"/>
          </p:nvPr>
        </p:nvSpPr>
        <p:spPr>
          <a:xfrm>
            <a:off x="840000" y="143333"/>
            <a:ext cx="8184079" cy="1685466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pt-BR" sz="3200" b="1" dirty="0">
                <a:latin typeface="Barlow" panose="00000500000000000000" pitchFamily="2" charset="0"/>
                <a:cs typeface="Calibri" panose="020F0502020204030204" pitchFamily="34" charset="0"/>
              </a:rPr>
              <a:t>Origem da Controle Interno</a:t>
            </a:r>
            <a:endParaRPr sz="3200" b="1" dirty="0">
              <a:solidFill>
                <a:srgbClr val="FF0000"/>
              </a:solidFill>
              <a:latin typeface="Barlow" panose="000005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840000" y="2173574"/>
            <a:ext cx="10526695" cy="420348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pt-BR" sz="2000" dirty="0">
                <a:solidFill>
                  <a:schemeClr val="tx1"/>
                </a:solidFill>
                <a:latin typeface="Barlow" panose="00000500000000000000" pitchFamily="2" charset="0"/>
                <a:cs typeface="Calibri" panose="020F0502020204030204" pitchFamily="34" charset="0"/>
              </a:rPr>
              <a:t>Segundo BLOK (2020), o Comitê de Procedimentos de Auditoria do Instituto Americano de Contadores Públicos Certificados (AICPA – American </a:t>
            </a:r>
            <a:r>
              <a:rPr lang="pt-BR" sz="2000" dirty="0" err="1">
                <a:solidFill>
                  <a:schemeClr val="tx1"/>
                </a:solidFill>
                <a:latin typeface="Barlow" panose="00000500000000000000" pitchFamily="2" charset="0"/>
                <a:cs typeface="Calibri" panose="020F0502020204030204" pitchFamily="34" charset="0"/>
              </a:rPr>
              <a:t>Institute</a:t>
            </a:r>
            <a:r>
              <a:rPr lang="pt-BR" sz="2000" dirty="0">
                <a:solidFill>
                  <a:schemeClr val="tx1"/>
                </a:solidFill>
                <a:latin typeface="Barlow" panose="00000500000000000000" pitchFamily="2" charset="0"/>
                <a:cs typeface="Calibri" panose="020F0502020204030204" pitchFamily="34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Barlow" panose="00000500000000000000" pitchFamily="2" charset="0"/>
                <a:cs typeface="Calibri" panose="020F0502020204030204" pitchFamily="34" charset="0"/>
              </a:rPr>
              <a:t>of</a:t>
            </a:r>
            <a:r>
              <a:rPr lang="pt-BR" sz="2000" dirty="0">
                <a:solidFill>
                  <a:schemeClr val="tx1"/>
                </a:solidFill>
                <a:latin typeface="Barlow" panose="00000500000000000000" pitchFamily="2" charset="0"/>
                <a:cs typeface="Calibri" panose="020F0502020204030204" pitchFamily="34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Barlow" panose="00000500000000000000" pitchFamily="2" charset="0"/>
                <a:cs typeface="Calibri" panose="020F0502020204030204" pitchFamily="34" charset="0"/>
              </a:rPr>
              <a:t>Certified</a:t>
            </a:r>
            <a:r>
              <a:rPr lang="pt-BR" sz="2000" dirty="0">
                <a:solidFill>
                  <a:schemeClr val="tx1"/>
                </a:solidFill>
                <a:latin typeface="Barlow" panose="00000500000000000000" pitchFamily="2" charset="0"/>
                <a:cs typeface="Calibri" panose="020F0502020204030204" pitchFamily="34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Barlow" panose="00000500000000000000" pitchFamily="2" charset="0"/>
                <a:cs typeface="Calibri" panose="020F0502020204030204" pitchFamily="34" charset="0"/>
              </a:rPr>
              <a:t>Public</a:t>
            </a:r>
            <a:r>
              <a:rPr lang="pt-BR" sz="2000" dirty="0">
                <a:solidFill>
                  <a:schemeClr val="tx1"/>
                </a:solidFill>
                <a:latin typeface="Barlow" panose="00000500000000000000" pitchFamily="2" charset="0"/>
                <a:cs typeface="Calibri" panose="020F0502020204030204" pitchFamily="34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Barlow" panose="00000500000000000000" pitchFamily="2" charset="0"/>
                <a:cs typeface="Calibri" panose="020F0502020204030204" pitchFamily="34" charset="0"/>
              </a:rPr>
              <a:t>Accontants</a:t>
            </a:r>
            <a:r>
              <a:rPr lang="pt-BR" sz="2000" dirty="0">
                <a:solidFill>
                  <a:schemeClr val="tx1"/>
                </a:solidFill>
                <a:latin typeface="Barlow" panose="00000500000000000000" pitchFamily="2" charset="0"/>
                <a:cs typeface="Calibri" panose="020F0502020204030204" pitchFamily="34" charset="0"/>
              </a:rPr>
              <a:t>), define controle interno como “o plano da organização e todos os métodos e medidas coordenadas, aplicadas a uma empresa, a fim de proteger seus bens, conferir a exatidão e a fidelidade de seus dados contábeis, promover e estimular a obediência às diretrizes administrativas estabelecidas”.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title"/>
          </p:nvPr>
        </p:nvSpPr>
        <p:spPr>
          <a:xfrm>
            <a:off x="840000" y="143333"/>
            <a:ext cx="8184079" cy="1685466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pt-BR" sz="3200" b="1" dirty="0">
                <a:latin typeface="Barlow" panose="00000500000000000000" pitchFamily="2" charset="0"/>
              </a:rPr>
              <a:t>Controle Interno</a:t>
            </a:r>
            <a:endParaRPr sz="3200" b="1" dirty="0">
              <a:latin typeface="Barlow" panose="00000500000000000000" pitchFamily="2" charset="0"/>
            </a:endParaRPr>
          </a:p>
        </p:txBody>
      </p:sp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720000" y="1890488"/>
            <a:ext cx="11308000" cy="4424878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 algn="just">
              <a:buNone/>
            </a:pPr>
            <a:r>
              <a:rPr lang="pt-BR" sz="2800" dirty="0"/>
              <a:t>As políticas de controle interno são fundamentais para alcançar a transparência na gestão dos gastos públicos. Traçando a linha histórica do controle interno do Brasil mostra que o foco na construção do pensamento de integridade, bem como os sistemas de controle interno ocorreu pouco antes da promulgação da Carta Magna de nosso país. Normatizando de forma clara a estrutura, ações e prazos necessários para implementar o plano de integridade. </a:t>
            </a:r>
          </a:p>
        </p:txBody>
      </p:sp>
    </p:spTree>
    <p:extLst>
      <p:ext uri="{BB962C8B-B14F-4D97-AF65-F5344CB8AC3E}">
        <p14:creationId xmlns:p14="http://schemas.microsoft.com/office/powerpoint/2010/main" val="4497431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title"/>
          </p:nvPr>
        </p:nvSpPr>
        <p:spPr>
          <a:xfrm>
            <a:off x="840000" y="143333"/>
            <a:ext cx="8184079" cy="1685466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pt-BR" sz="3200" dirty="0"/>
              <a:t>Controle Interno</a:t>
            </a:r>
            <a:endParaRPr sz="3200" dirty="0"/>
          </a:p>
        </p:txBody>
      </p:sp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126609" y="1890488"/>
            <a:ext cx="11901391" cy="4675204"/>
          </a:xfrm>
          <a:prstGeom prst="rect">
            <a:avLst/>
          </a:prstGeom>
        </p:spPr>
        <p:txBody>
          <a:bodyPr spcFirstLastPara="1" wrap="square" lIns="121900" tIns="121900" rIns="121900" bIns="121900" numCol="2" anchor="t" anchorCtr="0">
            <a:noAutofit/>
          </a:bodyPr>
          <a:lstStyle/>
          <a:p>
            <a:pPr marL="152392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800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Art. 74. Os Poderes Legislativo, Executivo e Judiciário manterão, de forma </a:t>
            </a:r>
            <a:endParaRPr lang="pt-B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52392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800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integrada, sistema de </a:t>
            </a:r>
            <a:r>
              <a:rPr lang="pt-BR" sz="1800" b="1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controle interno</a:t>
            </a:r>
            <a:r>
              <a:rPr lang="pt-BR" sz="1800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com a finalidade de:</a:t>
            </a:r>
            <a:endParaRPr lang="pt-B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52392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800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I - avaliar o cumprimento das metas previstas no plano plurianual, a execução dos programas de governo e dos orçamentos da União;</a:t>
            </a:r>
            <a:endParaRPr lang="pt-B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52392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800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II - comprovar a legalidade e avaliar os resultados, quanto à eficácia e eficiência, da gestão orçamentária, financeira e patrimonial nos órgãos e entidades da administração federal, bem como da aplicação de recursos públicos por entidades de direito privado;</a:t>
            </a:r>
            <a:endParaRPr lang="pt-B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52392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800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III - exercer o controle das operações de crédito, avais e garantias, bem como </a:t>
            </a:r>
            <a:endParaRPr lang="pt-B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52392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800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dos direitos e haveres da União;</a:t>
            </a:r>
            <a:endParaRPr lang="pt-B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52392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800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IV - apoiar o controle externo no exercício de sua missão institucional.</a:t>
            </a:r>
            <a:endParaRPr lang="pt-B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52392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800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§ 1º Os responsáveis pelo controle interno, ao tomarem conhecimento de qualquer irregularidade ou ilegalidade, dela darão ciência ao Tribunal de Contas da União, sob pena de responsabilidade solidária.</a:t>
            </a:r>
            <a:endParaRPr lang="pt-B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52392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800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§ 2º Qualquer cidadão, partido político, associação ou sindicato é parte </a:t>
            </a:r>
            <a:endParaRPr lang="pt-B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52392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800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legítima para, na forma da lei, denunciar irregularidades ou ilegalidades </a:t>
            </a:r>
            <a:endParaRPr lang="pt-B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52392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800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perante o Tribunal de Contas da União. (BRASIL, 1988)</a:t>
            </a:r>
            <a:endParaRPr lang="pt-B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3123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D0D6C9-5A10-1CB2-7348-25E08E7CE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2800" b="1" dirty="0">
                <a:latin typeface="Barlow" panose="00000500000000000000" pitchFamily="2" charset="0"/>
              </a:rPr>
              <a:t>Controle Interno</a:t>
            </a:r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84D7E67-F05D-BD50-B871-3E95963288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D194717-F5F9-CDE4-383A-4BF609DC35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7455" y="2079831"/>
            <a:ext cx="6417090" cy="401852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237612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C41DAE-6E2A-91ED-CA89-2F026907C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Controle Interno Público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6CABD53-D914-F6D2-4C56-64510FE597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862817"/>
            <a:ext cx="10632628" cy="4452549"/>
          </a:xfrm>
        </p:spPr>
        <p:txBody>
          <a:bodyPr/>
          <a:lstStyle/>
          <a:p>
            <a:pPr algn="just"/>
            <a:r>
              <a:rPr lang="pt-BR" sz="2800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Segundo ALEXANDRINO e PAULO (2017, p. 949) o </a:t>
            </a:r>
            <a:r>
              <a:rPr lang="pt-BR" sz="2800" b="1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Controle Interno na Administração Pública</a:t>
            </a:r>
            <a:r>
              <a:rPr lang="pt-BR" sz="2800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é exercido dentro de um mesmo Poder por meio de conjunto de ferramentas que o próprio ordenamento jurídico estabelece, como visto na norma constitucional supracitada, realizados por órgãos de controle e fiscalização</a:t>
            </a: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28838179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>
            <a:spLocks noGrp="1"/>
          </p:cNvSpPr>
          <p:nvPr>
            <p:ph type="title"/>
          </p:nvPr>
        </p:nvSpPr>
        <p:spPr>
          <a:xfrm>
            <a:off x="840000" y="143333"/>
            <a:ext cx="8244039" cy="1700456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pt-BR" sz="3200" dirty="0"/>
              <a:t>PONTOS PRINCIPAIS ABORDADOS NA AULA</a:t>
            </a:r>
            <a:endParaRPr sz="3200" dirty="0"/>
          </a:p>
        </p:txBody>
      </p:sp>
      <p:sp>
        <p:nvSpPr>
          <p:cNvPr id="52" name="Google Shape;52;p11"/>
          <p:cNvSpPr txBox="1">
            <a:spLocks noGrp="1"/>
          </p:cNvSpPr>
          <p:nvPr>
            <p:ph type="body" idx="1"/>
          </p:nvPr>
        </p:nvSpPr>
        <p:spPr>
          <a:xfrm>
            <a:off x="840000" y="1905479"/>
            <a:ext cx="11308000" cy="4454857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just">
              <a:lnSpc>
                <a:spcPct val="150000"/>
              </a:lnSpc>
              <a:buSzPct val="75000"/>
              <a:buFont typeface="Arial" panose="020B0604020202020204" pitchFamily="34" charset="0"/>
              <a:buChar char="•"/>
            </a:pPr>
            <a:endParaRPr lang="pt-BR" sz="2800" dirty="0"/>
          </a:p>
          <a:p>
            <a:pPr algn="just">
              <a:lnSpc>
                <a:spcPct val="150000"/>
              </a:lnSpc>
              <a:buSzPct val="75000"/>
              <a:buFont typeface="Arial" panose="020B0604020202020204" pitchFamily="34" charset="0"/>
              <a:buChar char="•"/>
            </a:pPr>
            <a:r>
              <a:rPr lang="pt-BR" sz="2800" dirty="0"/>
              <a:t>Origem da Controle Interno</a:t>
            </a:r>
          </a:p>
          <a:p>
            <a:pPr algn="just">
              <a:lnSpc>
                <a:spcPct val="150000"/>
              </a:lnSpc>
              <a:buSzPct val="75000"/>
              <a:buFont typeface="Arial" panose="020B0604020202020204" pitchFamily="34" charset="0"/>
              <a:buChar char="•"/>
            </a:pPr>
            <a:r>
              <a:rPr lang="pt-BR" sz="2800" dirty="0"/>
              <a:t>Finalidade do Controle Interno</a:t>
            </a:r>
          </a:p>
          <a:p>
            <a:pPr algn="just">
              <a:lnSpc>
                <a:spcPct val="150000"/>
              </a:lnSpc>
              <a:buSzPct val="75000"/>
              <a:buFont typeface="Arial" panose="020B0604020202020204" pitchFamily="34" charset="0"/>
              <a:buChar char="•"/>
            </a:pPr>
            <a:r>
              <a:rPr lang="pt-BR" sz="2800" dirty="0"/>
              <a:t>Controle Interno Público</a:t>
            </a:r>
            <a:endParaRPr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435</Words>
  <Application>Microsoft Office PowerPoint</Application>
  <PresentationFormat>Widescreen</PresentationFormat>
  <Paragraphs>25</Paragraphs>
  <Slides>7</Slides>
  <Notes>5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7</vt:i4>
      </vt:variant>
    </vt:vector>
  </HeadingPairs>
  <TitlesOfParts>
    <vt:vector size="14" baseType="lpstr">
      <vt:lpstr>Barlow SemiBold</vt:lpstr>
      <vt:lpstr>Calibri</vt:lpstr>
      <vt:lpstr>Calibri Light</vt:lpstr>
      <vt:lpstr>Barlow</vt:lpstr>
      <vt:lpstr>Arial</vt:lpstr>
      <vt:lpstr>Simple Light</vt:lpstr>
      <vt:lpstr>Personalizar design</vt:lpstr>
      <vt:lpstr>Controle Interno</vt:lpstr>
      <vt:lpstr>Origem da Controle Interno</vt:lpstr>
      <vt:lpstr>Controle Interno</vt:lpstr>
      <vt:lpstr>Controle Interno</vt:lpstr>
      <vt:lpstr>Controle Interno</vt:lpstr>
      <vt:lpstr>Controle Interno Público</vt:lpstr>
      <vt:lpstr>PONTOS PRINCIPAIS ABORDADOS NA AULA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NOÇÕES INTRODUTÓRIAS DE DIREITO PENAL</dc:title>
  <cp:lastModifiedBy>debora paiva</cp:lastModifiedBy>
  <cp:revision>14</cp:revision>
  <dcterms:modified xsi:type="dcterms:W3CDTF">2022-07-22T01:45:00Z</dcterms:modified>
</cp:coreProperties>
</file>