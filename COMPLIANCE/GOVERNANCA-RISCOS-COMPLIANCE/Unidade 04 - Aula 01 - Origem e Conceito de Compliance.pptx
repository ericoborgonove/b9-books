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11"/>
  </p:notesMasterIdLst>
  <p:sldIdLst>
    <p:sldId id="256" r:id="rId3"/>
    <p:sldId id="257" r:id="rId4"/>
    <p:sldId id="261" r:id="rId5"/>
    <p:sldId id="259" r:id="rId6"/>
    <p:sldId id="262" r:id="rId7"/>
    <p:sldId id="260" r:id="rId8"/>
    <p:sldId id="263" r:id="rId9"/>
    <p:sldId id="258" r:id="rId10"/>
  </p:sldIdLst>
  <p:sldSz cx="12192000" cy="6858000"/>
  <p:notesSz cx="6858000" cy="9144000"/>
  <p:embeddedFontLs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Barlow SemiBold" panose="00000700000000000000" pitchFamily="2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081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Origem e Conceito da Compliance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Origem do Compliance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0625169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Com a globalização das empresas e seu crescimento exacerbado tornou-se necessário a constante descentralização das tomadas de decisão ficando está cada vez mais a cargo de gestores e administradores.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C0D50-01C4-443B-3418-DE3E3F23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latin typeface="Barlow" panose="00000500000000000000" pitchFamily="2" charset="0"/>
                <a:cs typeface="Calibri" panose="020F0502020204030204" pitchFamily="34" charset="0"/>
              </a:rPr>
              <a:t>Origem do Compliance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B2CFBF-8033-8E58-5221-3BBA44850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800" dirty="0"/>
              <a:t>Deriva do verbo inglês </a:t>
            </a:r>
            <a:r>
              <a:rPr lang="pt-BR" sz="2800" i="1" dirty="0" err="1"/>
              <a:t>to</a:t>
            </a:r>
            <a:r>
              <a:rPr lang="pt-BR" sz="2800" i="1" dirty="0"/>
              <a:t> </a:t>
            </a:r>
            <a:r>
              <a:rPr lang="pt-BR" sz="2800" i="1" dirty="0" err="1"/>
              <a:t>comply</a:t>
            </a:r>
            <a:r>
              <a:rPr lang="pt-BR" sz="2800" i="1" dirty="0"/>
              <a:t>;</a:t>
            </a:r>
          </a:p>
          <a:p>
            <a:pPr marL="152392" indent="0">
              <a:buNone/>
            </a:pPr>
            <a:endParaRPr lang="pt-BR" sz="2800" i="1" dirty="0"/>
          </a:p>
          <a:p>
            <a:pPr marL="152392" indent="0">
              <a:buNone/>
            </a:pPr>
            <a:r>
              <a:rPr lang="pt-BR" sz="2800" dirty="0"/>
              <a:t>agir de acordo com a lei, estarem conformidade com conformidade com as regras internas, e com a legislação nacional e Internacional 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74687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Conceito de Governança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Segundo o Daniel Lança  (2019, p. 30):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Estar em conformidade com a legislação e com as políticas internas de onde você trabalha, por meio de ferramentas de gestam que sejam capazes de prevenir, detectar e mitigar de Gil céticos intoleráveis no contexto de uma organização.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04815-6506-F4D1-C8F5-7BAFB112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latin typeface="Barlow" panose="00000500000000000000" pitchFamily="2" charset="0"/>
                <a:cs typeface="Calibri" panose="020F0502020204030204" pitchFamily="34" charset="0"/>
              </a:rPr>
              <a:t>Compliance na sociedade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FD6DA0-9A30-E332-3FC6-5BBAEBA94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0702966" cy="4452549"/>
          </a:xfrm>
        </p:spPr>
        <p:txBody>
          <a:bodyPr/>
          <a:lstStyle/>
          <a:p>
            <a:pPr algn="just"/>
            <a:r>
              <a:rPr lang="pt-BR" sz="2800" dirty="0"/>
              <a:t>O desenvolvimento e a estimulação de políticas anticorrupção, vem demandando do mercado local e global, uma conduta mais responsiva, vem sendo orientado na perspectiva de que a conduta de integridade seja um norte, um impulsionador da cultura interna de determinada instituição. </a:t>
            </a:r>
          </a:p>
        </p:txBody>
      </p:sp>
    </p:spTree>
    <p:extLst>
      <p:ext uri="{BB962C8B-B14F-4D97-AF65-F5344CB8AC3E}">
        <p14:creationId xmlns:p14="http://schemas.microsoft.com/office/powerpoint/2010/main" val="297714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Princípios do Compliance - Comitê de Basiléia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a responsabilidade de um conselho de administração por acompanhar o gerenciamento de risco de Compliance no mínimo uma vez por ano;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a alta administração é responsável pelo gerenciamento do risco do Compliance;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a alta administração deve e estabelecer divulgar e difundir as políticas de Compliance na organização;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a alta administração é responsável por estabelecer a área de Compliance efetiva como parte da organização;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a área do Compliance deve ser independente das demais em seu status, em sua coordenação, em seus conflitos e informações oriundas do exercício de suas atribuições;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Princípios do Compliance - Comitê de Basiléia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pt-BR" sz="2000" dirty="0"/>
              <a:t>6.	a área do Compliance deve ter recursos próprios para se auto administrar de forma eficaz;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pt-BR" sz="2000" dirty="0"/>
              <a:t>7.	deve ajudar a alta administração no gerenciamento dos riscos por meio de atualizações e recomendações, elaboração de manuais de Compliance internos, e identificação e administração dos riscos, responsabilização em relação ao combate a corrupção bem como impõem o Decreto 8420/2015;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pt-BR" sz="2000" dirty="0"/>
              <a:t>8.	deve ser alvo de revisão periódica por parte da auditoria interna;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pt-BR" sz="2000" dirty="0"/>
              <a:t>9.	deve estar de acordo com a legislação e regulamentos de cada localidade nela inserida;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pt-BR" sz="2000" dirty="0"/>
              <a:t>10.	a área do Compliance mesmo que terceirizada deve sempre estar sob a responsabilidade de um gestor de Compliance interno.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88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Origem da Compliance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Conceitos e Marcos históricos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Princípios </a:t>
            </a:r>
            <a:r>
              <a:rPr lang="pt-BR" sz="2800"/>
              <a:t>do Compliance</a:t>
            </a:r>
            <a:endParaRPr lang="pt-BR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422</Words>
  <Application>Microsoft Office PowerPoint</Application>
  <PresentationFormat>Widescreen</PresentationFormat>
  <Paragraphs>30</Paragraphs>
  <Slides>8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Origem e Conceito da Compliance </vt:lpstr>
      <vt:lpstr>Origem do Compliance</vt:lpstr>
      <vt:lpstr>Origem do Compliance</vt:lpstr>
      <vt:lpstr>Conceito de Governança</vt:lpstr>
      <vt:lpstr>Compliance na sociedade</vt:lpstr>
      <vt:lpstr>Princípios do Compliance - Comitê de Basiléia</vt:lpstr>
      <vt:lpstr>Princípios do Compliance - Comitê de Basiléia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2022-07-22T00:50:03Z</dcterms:modified>
</cp:coreProperties>
</file>