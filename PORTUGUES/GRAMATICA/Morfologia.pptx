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9" autoAdjust="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AB306-8956-48E4-B982-E0717EDA6989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39771-0E50-445D-B181-C268CF18FA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44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39771-0E50-445D-B181-C268CF18FA8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7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68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50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73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00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79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62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831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56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08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9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9777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752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2673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203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078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91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42E78-D706-4E84-ABE5-87FF20CC0038}" type="datetimeFigureOut">
              <a:rPr lang="pt-BR" smtClean="0"/>
              <a:t>21/04/2019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D6C3A7-C5E4-4745-8A66-C6A68CF6EF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49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DDD2B-AB47-4B7D-8147-6E68BF451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dirty="0"/>
              <a:t>MORFOLOGIA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DB0309-9EB0-43FB-ACA1-322ECD42B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77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DBFD0-AF75-4CA1-9E5E-26993C0A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CLASSES DAS PALAVRAS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684222-AC2E-41C2-B8C0-1239B0647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2160589"/>
            <a:ext cx="9495693" cy="3880773"/>
          </a:xfrm>
        </p:spPr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palavras da língua portuguesa são classificadas dentro de dez classes gramaticais:</a:t>
            </a:r>
          </a:p>
          <a:p>
            <a:pPr algn="just"/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Substantivo, adjetivo, advérbio, verbo, conjunção, interjeição, preposição, artigo, numeral e pronome.</a:t>
            </a:r>
          </a:p>
        </p:txBody>
      </p:sp>
    </p:spTree>
    <p:extLst>
      <p:ext uri="{BB962C8B-B14F-4D97-AF65-F5344CB8AC3E}">
        <p14:creationId xmlns:p14="http://schemas.microsoft.com/office/powerpoint/2010/main" val="107040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9C809-7778-4DD1-ABCC-A8FB3E14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609600"/>
            <a:ext cx="8894174" cy="13208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FE0E22-672D-4012-98B4-B77273D03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42" y="2160589"/>
            <a:ext cx="9161460" cy="3880773"/>
          </a:xfrm>
        </p:spPr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Algumas classes são variáveis, seguem regras de concordância, ou seja, flexionam-se em número e gênero, como o substantivo, o adjetivo, o pronome, o numeral, o verbo.</a:t>
            </a:r>
          </a:p>
          <a:p>
            <a:pPr algn="just"/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Outras permanecem invariáveis, sem flexão, sem concordância, como advérbios, conjunções, preposições.</a:t>
            </a:r>
          </a:p>
        </p:txBody>
      </p:sp>
    </p:spTree>
    <p:extLst>
      <p:ext uri="{BB962C8B-B14F-4D97-AF65-F5344CB8AC3E}">
        <p14:creationId xmlns:p14="http://schemas.microsoft.com/office/powerpoint/2010/main" val="112092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E8A17-9B9F-4482-A657-F90277C2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1. SUBSTANTIVO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AE116C-2B2F-4B4F-84B7-1A768BE95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7" y="2160589"/>
            <a:ext cx="9523828" cy="4437159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substantivo é a classe que dá nome a seres, coisas, sentimentos, qualidades, ações (homem, gato, carro, mesa, beleza, inteligência, estudo...).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uma classe variável, pois se flexiona em gênero, número e grau: </a:t>
            </a:r>
            <a:r>
              <a:rPr lang="pt-B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gato, dois gatos, três gatas, quatro gatinhas, cinco gatonas...</a:t>
            </a: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6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92CAB-A9F9-42AE-A8D0-D73CC7BE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74002" cy="970671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Classificação dos substantivos: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3E3DB9-E256-46A6-B7F8-88626D60C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6942"/>
            <a:ext cx="10156875" cy="5887329"/>
          </a:xfrm>
        </p:spPr>
        <p:txBody>
          <a:bodyPr>
            <a:no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Primitivo: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Dá origem a outros substantivos, não traz afixos -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prefixo ou sufixo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Pedra, Mulher, Felicidade);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Derivado: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Deriva de uma palavra primitiva, traz afixos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Pedr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Mulher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felicidade);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Simples: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 um radical, uma palavra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Homem, Pombo, Arco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Composto: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 mais de um radical, mais de uma palavra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Homem-bomba, </a:t>
            </a:r>
            <a:r>
              <a:rPr lang="pt-BR" sz="25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Pombocorreio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Arco-íris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Comum: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 uma espécie ou um ser qualquer representativo de uma espécie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Mulher, Cidade, Cigarro);</a:t>
            </a:r>
          </a:p>
        </p:txBody>
      </p:sp>
    </p:spTree>
    <p:extLst>
      <p:ext uri="{BB962C8B-B14F-4D97-AF65-F5344CB8AC3E}">
        <p14:creationId xmlns:p14="http://schemas.microsoft.com/office/powerpoint/2010/main" val="340220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19A14D-C183-4430-A573-67CE5E060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2880"/>
            <a:ext cx="9274002" cy="6675120"/>
          </a:xfrm>
        </p:spPr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Próprio: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 um indivíduo específico da espécie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Maria, Paris, 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Malboro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Concreto: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 um ser que existe por si só, de existência autônoma e concreta, seja material, espiritual, real ou imaginário.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Pedra, Menino, Carro, Deus, Fada);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Abstrato: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 ação, estado, sentimento, qualidade, conceito.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Criação, Doença, Coragem, Liberalismo...)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Coletivos: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 uma pluralidade de seres da mesma espécie (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povo, multidão, tropa (soldados), cardume (peixes), alcateia (lobos, animais ferozes), frota (veículos) 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panapaná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(borboletas), esquadrilha (aviões), rebanho (animais), cáfila (camelos))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061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ADA14-5303-454C-9597-E6093A2C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2. ADJETIVO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001A1A-17A1-4D02-96B3-CB01CC8A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99" y="2032001"/>
            <a:ext cx="9797143" cy="4009362"/>
          </a:xfrm>
        </p:spPr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adjetivo é a classe variável que se refere ao substantivo ou termo de valor substantivo (como pronomes), para atribuir a ele alguma qualificação, condição ou estado, restringindo ou especificando seu sentido. </a:t>
            </a:r>
            <a:r>
              <a:rPr lang="pt-BR" sz="25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homem </a:t>
            </a:r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mau,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mulher</a:t>
            </a:r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simples,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céu</a:t>
            </a:r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azul,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casa </a:t>
            </a:r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arruinada.</a:t>
            </a:r>
          </a:p>
          <a:p>
            <a:pPr algn="just"/>
            <a:endParaRPr lang="pt-BR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homens maus, mulheres simples, céus azuis, casas arruinadas.</a:t>
            </a:r>
          </a:p>
        </p:txBody>
      </p:sp>
    </p:spTree>
    <p:extLst>
      <p:ext uri="{BB962C8B-B14F-4D97-AF65-F5344CB8AC3E}">
        <p14:creationId xmlns:p14="http://schemas.microsoft.com/office/powerpoint/2010/main" val="61741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80BDD-AFED-4233-ACD5-00ACC980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3. ADVÉRBIO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3712E6-ACC8-4499-80F2-FD36478DD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30401"/>
            <a:ext cx="9274002" cy="4110962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advérbio é classe invariável que se refere essencialmente ao verbo, indicando a circunstância em que uma ação foi praticada, como “tempo, lugar, modo, causa... 	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Porém, o advérbio também pode modificar adjetivos (você é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linda), outros advérbios (você dança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extremamente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mal) e também orações inteiras (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Infelizmente,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Brasil não vai bem).</a:t>
            </a:r>
          </a:p>
        </p:txBody>
      </p:sp>
    </p:spTree>
    <p:extLst>
      <p:ext uri="{BB962C8B-B14F-4D97-AF65-F5344CB8AC3E}">
        <p14:creationId xmlns:p14="http://schemas.microsoft.com/office/powerpoint/2010/main" val="198667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1DD019-882E-4DC9-88D4-E28AD20E7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"/>
            <a:ext cx="9710057" cy="6858000"/>
          </a:xfrm>
        </p:spPr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Dúvida: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talvez, porventura, possivelmente, provavelmente, quiçá, talvez, casualmente, mesmo; por certo;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Intensidade: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muito, demais, pouco, tão, bastante, mais, menos, demasiado, quanto, quão, tanto, assaz, que (= quão), tudo, nada, todo, quase, extremamente, intensamente, grandemente, bem;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Negação: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não, nem, nunca, jamais, de modo algum, de forma nenhuma, tampouco, de jeito nenhum.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Afirmação: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sim, certamente, realmente, decerto, efetivamente, certo, decididamente, deveras, indubitavelmente, com certeza.</a:t>
            </a:r>
          </a:p>
        </p:txBody>
      </p:sp>
    </p:spTree>
    <p:extLst>
      <p:ext uri="{BB962C8B-B14F-4D97-AF65-F5344CB8AC3E}">
        <p14:creationId xmlns:p14="http://schemas.microsoft.com/office/powerpoint/2010/main" val="2683185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97DF74-F532-4968-8059-FE6E2FC9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9448800" cy="6857999"/>
          </a:xfrm>
        </p:spPr>
        <p:txBody>
          <a:bodyPr>
            <a:noAutofit/>
          </a:bodyPr>
          <a:lstStyle/>
          <a:p>
            <a:pPr algn="just"/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Lugar: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aqui, antes, dentro, ali, adiante, fora, acolá, atrás, além, lá, detrás, aquém, cá, acima, onde, perto, aí, abaixo, aonde, longe, debaixo, algures (em algum lugar), defronte, nenhures (em nenhum lugar), adentro, afora, alhures (em outro lugar), embaixo, externamente; a distância, à distância de, de longe, de perto, em cima, à direita, à esquerda, ao lado, em volta.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Tempo: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hoje, logo, primeiro, ontem, tarde, outrora, amanhã, cedo, dantes, depois, ainda, antigamente, antes, doravante, nunca, então, ora, jamais, agora, sempre, já, enfim, afinal, amiúde (frequentemente), breve, constantemente, entrementes, imediatamente, primeiramente, provisoriamente, sucessivamente; às vezes, à tarde, à noite, de manhã, de repente, de vez em quando, de quando em quando, a qualquer momento, de tempos em tempos, em breve, hoje em dia.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Modo: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bem, mal, assim, adrede (de propósito), melhor, pior, depressa, acinte (de propósito), debalde (em vão), devagar, calmamente, tristemente, propositadamente, pacientemente, amorosamente, docemente, escandalosamente, bondosamente, generosamente. às pressas, às claras, às cegas, à toa, à vontade, às escondidas, aos poucos, desse jeito, desse modo, dessa maneira, em geral, frente a frente, lado a lado, a pé, de cor, em vão.</a:t>
            </a:r>
          </a:p>
        </p:txBody>
      </p:sp>
    </p:spTree>
    <p:extLst>
      <p:ext uri="{BB962C8B-B14F-4D97-AF65-F5344CB8AC3E}">
        <p14:creationId xmlns:p14="http://schemas.microsoft.com/office/powerpoint/2010/main" val="2498812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BFCFE-3E1F-45C8-89D4-D618AA66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82171"/>
          </a:xfrm>
        </p:spPr>
        <p:txBody>
          <a:bodyPr/>
          <a:lstStyle/>
          <a:p>
            <a:pPr algn="ctr"/>
            <a:r>
              <a:rPr lang="pt-BR" b="1" dirty="0"/>
              <a:t>4. ARTIGO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BB148B-BB3F-4C53-A45D-74ACAE1CA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2171"/>
            <a:ext cx="9274002" cy="6175829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artigo é classe variável em gênero e número que acompanha substantivos, indicando se o substantivo é masculino ou feminino, singular ou plural, definido ou indefinido. Por sempre estar modificando um substantivo,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sempre exerce a função de adjunto adnominal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Pode ocorrer aglutinado com preposições (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“no”, “na”, “dos”, “das”.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23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463A07-331B-45FD-B1F8-41CA0A0A9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74002" cy="7111999"/>
          </a:xfrm>
        </p:spPr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artigo definido se refere a um substantivo de forma precisa, familiar: “o carro”, “a casa”, nesse caso, indicando que aquele “carro” ou aquela “casa” são conhecidas ou já foram mencionadas no texto.</a:t>
            </a: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artigo definido diante de um substantivo indica que este é familiar, conhecido ou que já foi mencionado.</a:t>
            </a:r>
          </a:p>
          <a:p>
            <a:pPr algn="just"/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o pronome indefinido “todo”, o artigo definido indica “completude”, “inteireza”:</a:t>
            </a:r>
          </a:p>
          <a:p>
            <a:pPr algn="just"/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 casa precisa de reforma. </a:t>
            </a:r>
            <a:r>
              <a:rPr lang="pt-BR" sz="25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(todas as casas, qualquer casa, casas em geral.)</a:t>
            </a:r>
          </a:p>
          <a:p>
            <a:pPr algn="just"/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 a casa precisa de reforma </a:t>
            </a:r>
            <a:r>
              <a:rPr lang="pt-BR" sz="25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 casa inteira.)</a:t>
            </a:r>
            <a:endParaRPr lang="pt-BR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40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560A1-4096-4FA8-9A9B-2EB9F3CF9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74002" cy="816638"/>
          </a:xfrm>
        </p:spPr>
        <p:txBody>
          <a:bodyPr/>
          <a:lstStyle/>
          <a:p>
            <a:pPr algn="ctr"/>
            <a:r>
              <a:rPr lang="pt-BR" b="1" dirty="0"/>
              <a:t>5. PREPOSIÇÕES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FDDE73-1B1C-4BF3-BD8D-A69A1D5A8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96686"/>
            <a:ext cx="9927772" cy="6161313"/>
          </a:xfrm>
        </p:spPr>
        <p:txBody>
          <a:bodyPr/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preposição é classe invariável que conecta palavras e orações, umas às outras e entre si.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preposições: 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a, com, de, em, para, por, ante, até, após, contra, sob, sobre, per, por, desde, trás, perante.</a:t>
            </a:r>
          </a:p>
          <a:p>
            <a:pPr algn="just"/>
            <a:endParaRPr lang="pt-BR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Gosto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chocolate (a preposição introduz complemento de um verbo)</a:t>
            </a: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Tenho medo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cobra (a preposição introduz complemento de um nome)</a:t>
            </a: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Estudo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noite (a preposição introduz locução adverbial)</a:t>
            </a:r>
          </a:p>
          <a:p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8451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E7378-766E-44CA-8E70-197D7FA6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74002" cy="816638"/>
          </a:xfrm>
        </p:spPr>
        <p:txBody>
          <a:bodyPr/>
          <a:lstStyle/>
          <a:p>
            <a:pPr algn="ctr"/>
            <a:r>
              <a:rPr lang="pt-BR" b="1" dirty="0"/>
              <a:t>Contração das preposições: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4DF96E-ABE8-4B44-A331-3E864F188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6638"/>
            <a:ext cx="9274002" cy="6041361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Preposição a + Artigos</a:t>
            </a: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+ a, as, o, os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à, às, ao, aos</a:t>
            </a:r>
          </a:p>
          <a:p>
            <a:pPr algn="just"/>
            <a:endParaRPr lang="pt-BR" sz="25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Preposição a + Pronomes demonstrativos</a:t>
            </a: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+ aquele, aquela, aqueles, aquelas, aquilo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àquele, àquela, àquelas, àquilo</a:t>
            </a:r>
          </a:p>
          <a:p>
            <a:pPr algn="just"/>
            <a:endParaRPr lang="pt-BR" sz="25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preposição a + Advérbios</a:t>
            </a: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+ onde =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aonde</a:t>
            </a:r>
          </a:p>
          <a:p>
            <a:pPr algn="just"/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preposição por + Artigos</a:t>
            </a: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+ o, a, os, as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pelo, pela, pelos, pelas</a:t>
            </a:r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647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092F0B-ECA4-4331-AD96-6D3B06C83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>
            <a:normAutofit/>
          </a:bodyPr>
          <a:lstStyle/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Preposição de + Artigos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+ o, a, as, um, uns, uma, umas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do, da, das, dum, duns, duma, dumas</a:t>
            </a:r>
          </a:p>
          <a:p>
            <a:pPr algn="just"/>
            <a:endParaRPr lang="pt-BR" sz="2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Preposição de + Pronomes pessoais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+ ele, ela, eles, elas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dele, dela, deles, delas</a:t>
            </a:r>
          </a:p>
          <a:p>
            <a:pPr algn="just"/>
            <a:endParaRPr lang="pt-BR" sz="2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Preposição de + Pronomes demonstrativos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+ este, esta, estes, estas, isto, esse, aquele, aquelas, aquilo</a:t>
            </a:r>
          </a:p>
          <a:p>
            <a:pPr algn="just"/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=deste, desta, destes, destas, disto, desse, daquele, daquelas, daquilo</a:t>
            </a:r>
          </a:p>
          <a:p>
            <a:pPr algn="just"/>
            <a:endParaRPr lang="pt-BR" sz="2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Preposição de + Advérbios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+ aqui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daqui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de + aí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daí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de + ali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dali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de + além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dalém</a:t>
            </a:r>
          </a:p>
          <a:p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960587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A5B61-D964-4915-A13D-3C7B71D9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82171"/>
          </a:xfrm>
        </p:spPr>
        <p:txBody>
          <a:bodyPr/>
          <a:lstStyle/>
          <a:p>
            <a:pPr algn="ctr"/>
            <a:r>
              <a:rPr lang="pt-BR" dirty="0"/>
              <a:t>6. </a:t>
            </a:r>
            <a:r>
              <a:rPr lang="pt-BR" b="1" dirty="0"/>
              <a:t>PRONOMES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009A-B8D0-490F-9F0C-63E4429BA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2171"/>
            <a:ext cx="9274002" cy="6175829"/>
          </a:xfrm>
        </p:spPr>
        <p:txBody>
          <a:bodyPr>
            <a:normAutofit/>
          </a:bodyPr>
          <a:lstStyle/>
          <a:p>
            <a:pPr algn="just"/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Os pronomes são palavras que </a:t>
            </a:r>
            <a:r>
              <a:rPr lang="pt-BR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representam (substituem)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ou 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acompanham (determinam)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um termo substantivo. Esses pronomes vão poder indicar pessoas, relações de posse, indefinição, quantidade, familiaridade, localização no tempo, no espaço e no texto, entre outras.</a:t>
            </a:r>
          </a:p>
          <a:p>
            <a:pPr algn="just"/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Quando acompanham um substantivo, são classificados como “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pronomes adjetivos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”. Quando substituem um substantivo, são classificados como </a:t>
            </a:r>
            <a:r>
              <a:rPr lang="pt-BR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pt-BR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substantivos</a:t>
            </a:r>
            <a:r>
              <a:rPr lang="pt-BR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pPr algn="just"/>
            <a:r>
              <a:rPr lang="pt-BR" sz="22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Estes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livros são do Mario, </a:t>
            </a:r>
            <a:r>
              <a:rPr lang="pt-BR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aqueles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são do Ricardo.</a:t>
            </a:r>
          </a:p>
        </p:txBody>
      </p:sp>
    </p:spTree>
    <p:extLst>
      <p:ext uri="{BB962C8B-B14F-4D97-AF65-F5344CB8AC3E}">
        <p14:creationId xmlns:p14="http://schemas.microsoft.com/office/powerpoint/2010/main" val="642522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173134-776C-4048-A1B4-022D33AC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"/>
            <a:ext cx="9593943" cy="6560456"/>
          </a:xfrm>
        </p:spPr>
        <p:txBody>
          <a:bodyPr>
            <a:normAutofit/>
          </a:bodyPr>
          <a:lstStyle/>
          <a:p>
            <a:pPr algn="just"/>
            <a:r>
              <a:rPr lang="pt-BR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INTERROGATIVOS: </a:t>
            </a:r>
          </a:p>
          <a:p>
            <a:pPr algn="just"/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“Que, Quem, Qual(</a:t>
            </a:r>
            <a:r>
              <a:rPr lang="pt-BR" sz="2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Quantos”.</a:t>
            </a:r>
          </a:p>
          <a:p>
            <a:pPr algn="just"/>
            <a:r>
              <a:rPr lang="pt-BR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sua idade?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Quantos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anos você tem?</a:t>
            </a:r>
          </a:p>
          <a:p>
            <a:pPr algn="just"/>
            <a:r>
              <a:rPr lang="pt-BR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Perguntei o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 aquilo. Indaguei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quem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 ele.</a:t>
            </a:r>
          </a:p>
          <a:p>
            <a:pPr algn="just"/>
            <a:endParaRPr lang="pt-BR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INDEFINIDOS: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pronomes indefinidos são classes variáveis que se referem à 3ª pessoa do discurso e indicam quantidade, sempre de maneira vaga: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ninguém, nenhum, alguém, algum, algo, todo, outro, tanto, quanto, muito, bastante, certo, cada, vários, qualquer, tudo, qual, outrem, nada, mais, menos, que, quem.</a:t>
            </a:r>
          </a:p>
          <a:p>
            <a:pPr algn="just"/>
            <a:r>
              <a:rPr lang="pt-BR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Recebi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pt-BR" sz="2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propostas e </a:t>
            </a:r>
            <a:r>
              <a:rPr lang="pt-BR" sz="2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tantos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elogios.</a:t>
            </a:r>
          </a:p>
          <a:p>
            <a:pPr algn="just"/>
            <a:r>
              <a:rPr lang="pt-BR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Muita</a:t>
            </a:r>
            <a:r>
              <a:rPr lang="pt-BR" sz="2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gente não chegou a tempo de fazer a prova.</a:t>
            </a:r>
          </a:p>
        </p:txBody>
      </p:sp>
    </p:spTree>
    <p:extLst>
      <p:ext uri="{BB962C8B-B14F-4D97-AF65-F5344CB8AC3E}">
        <p14:creationId xmlns:p14="http://schemas.microsoft.com/office/powerpoint/2010/main" val="1199111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FF2C1-DBEB-4D15-83D8-079FBF88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601"/>
            <a:ext cx="9274002" cy="6633028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POSSESSIVOS:</a:t>
            </a:r>
          </a:p>
          <a:p>
            <a:pPr algn="just"/>
            <a:endParaRPr lang="pt-BR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Esses pronomes tem sentido de posse e geralmente aparecem em questões sobre ambiguidade ou referência, pois podem se referir à primeira pessoa do discurso: 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meu(s), minha(s), nosso(s) nossas; </a:t>
            </a:r>
            <a:r>
              <a:rPr lang="pt-BR" sz="2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segunda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teu(s), tua(s), vosso(s), vossa(s); </a:t>
            </a:r>
            <a:r>
              <a:rPr lang="pt-BR" sz="2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 à terceira</a:t>
            </a:r>
            <a:r>
              <a:rPr lang="pt-BR" sz="2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seu(s), sua(s)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0072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66898-9F7B-407B-A6AA-8BB7B5F4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PRONOMES DEMONSTRATIVOS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9C8A40-A861-4E2F-A964-0DE856407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pronomes demonstrativos: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este(s), esta(s), esse(s), essa(s), aquele(s), aquela(s), aqueloutro(s), aqueloutra(s), isto, isso, aquilo, o, a, os, as; mesmo(s), mesma(s), próprio(s), própria(s), tal, tais, semelhante(s)...</a:t>
            </a:r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62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2799C-8997-4BAF-B871-FEAD34A2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9355015" cy="6857999"/>
          </a:xfrm>
        </p:spPr>
        <p:txBody>
          <a:bodyPr>
            <a:normAutofit/>
          </a:bodyPr>
          <a:lstStyle/>
          <a:p>
            <a:pPr algn="ctr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Tempo:</a:t>
            </a:r>
          </a:p>
          <a:p>
            <a:pPr algn="just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este(s), esta (s), isto: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indicam tempo presente: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domingo tem jogo do Barcelona.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verão viajarei para o Caribe.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esse(s), essa (s), isso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indicam passado recente: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domingo houve jogo do Barcelona.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Nesse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verão sofreremos demais com o calor.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aquele(s), aquela (s), aquilo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indicam passado ou futuro distante: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Aquela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década de 70 foi completamente perdida.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intercâmbio que faremos em 10 anos será caríssimo.</a:t>
            </a:r>
          </a:p>
          <a:p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003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53E218-B287-4686-8548-0A23DD7A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Espaço:</a:t>
            </a:r>
          </a:p>
          <a:p>
            <a:pPr algn="just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este(s), esta (s), isto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apontam para referente perto do falante: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violão aqui na minha mão é de madeira </a:t>
            </a:r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maçiça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Estes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meus cabelos estão uma verdadeira palha.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esse(s), essa (s), isso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apontam para perto do ouvinte: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violão aí na sua mão é de madeira maciça.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Isso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roupa que se vista num casamento?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aquele(s), aquela (s), aquilo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apontam para longe do falante/ouvinte: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Aquela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pintura lá em cima é um afresco.</a:t>
            </a:r>
          </a:p>
          <a:p>
            <a:pPr algn="just"/>
            <a:r>
              <a:rPr lang="pt-B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Aquilo 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é um pássaro, nem um avião; é só um balão caindo.</a:t>
            </a:r>
          </a:p>
        </p:txBody>
      </p:sp>
    </p:spTree>
    <p:extLst>
      <p:ext uri="{BB962C8B-B14F-4D97-AF65-F5344CB8AC3E}">
        <p14:creationId xmlns:p14="http://schemas.microsoft.com/office/powerpoint/2010/main" val="1652910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0BEE0F-D9D4-4995-B4A1-974438A9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9523828" cy="6858000"/>
          </a:xfrm>
        </p:spPr>
        <p:txBody>
          <a:bodyPr>
            <a:noAutofit/>
          </a:bodyPr>
          <a:lstStyle/>
          <a:p>
            <a:pPr algn="ctr"/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Texto:</a:t>
            </a:r>
          </a:p>
          <a:p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este(s), esta (s), isto: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apontam para o que </a:t>
            </a:r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será mencionado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(anuncia):</a:t>
            </a:r>
          </a:p>
          <a:p>
            <a:r>
              <a:rPr lang="pt-BR" sz="2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sua nova senha: 95@173xy; memorize-a.</a:t>
            </a:r>
          </a:p>
          <a:p>
            <a:r>
              <a:rPr lang="pt-BR" sz="2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o que importa: estudar e mudar de vida para sempre!</a:t>
            </a:r>
          </a:p>
          <a:p>
            <a:endParaRPr lang="pt-BR" sz="2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esse(s), essa (s), isso</a:t>
            </a:r>
            <a:r>
              <a:rPr lang="pt-BR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apontam para o que </a:t>
            </a:r>
            <a:r>
              <a:rPr lang="pt-BR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 foi mencionado</a:t>
            </a:r>
            <a:r>
              <a:rPr lang="pt-BR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2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João passou em primeiro lugar, esse cara é bom.</a:t>
            </a:r>
          </a:p>
          <a:p>
            <a:r>
              <a:rPr lang="pt-BR" sz="2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Dinheiro, sucesso, prestígio, isso tudo é sim importante.</a:t>
            </a:r>
          </a:p>
          <a:p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aquele(s), aquela (s), aquilo: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apontam para o antecedente mais distante, enquanto 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pt-BR" sz="2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aponta para o mais próximo:</a:t>
            </a:r>
          </a:p>
          <a:p>
            <a:r>
              <a:rPr lang="pt-BR" sz="2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3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são concursados, </a:t>
            </a:r>
            <a:r>
              <a:rPr lang="pt-BR" sz="2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Bacen, </a:t>
            </a:r>
            <a:r>
              <a:rPr lang="pt-BR" sz="23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TCU.</a:t>
            </a:r>
          </a:p>
        </p:txBody>
      </p:sp>
    </p:spTree>
    <p:extLst>
      <p:ext uri="{BB962C8B-B14F-4D97-AF65-F5344CB8AC3E}">
        <p14:creationId xmlns:p14="http://schemas.microsoft.com/office/powerpoint/2010/main" val="1801646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7B614-A8B0-4F7C-984A-36BAA6A3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74002" cy="816638"/>
          </a:xfrm>
        </p:spPr>
        <p:txBody>
          <a:bodyPr/>
          <a:lstStyle/>
          <a:p>
            <a:pPr algn="ctr"/>
            <a:r>
              <a:rPr lang="pt-BR" dirty="0"/>
              <a:t>APROFUNDANDO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5811A-71E1-410D-87A7-F6F74F035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6638"/>
            <a:ext cx="9274002" cy="6041361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seres mencionados no texto,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refere ao mais próximo, ao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último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pt-BR" sz="25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aquele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refere ao mais distante, ao </a:t>
            </a:r>
            <a:r>
              <a:rPr lang="pt-BR" sz="25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primeiro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Em provas objetivas, CESPE/UNB e ESAF aceitam </a:t>
            </a:r>
            <a:r>
              <a:rPr lang="pt-BR" sz="25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se referir ao </a:t>
            </a:r>
            <a:r>
              <a:rPr lang="pt-BR" sz="25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meio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 que não é previsto pela gramática. Essas bancas aceitam tal recurso, mas não há respaldo em nenhum gramático. Nesse caso,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recomenda-se o uso de numerais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 primeiro, o segundo, o terceiro. Fique atento. 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Xuxa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5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Pelé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Senna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famosos. </a:t>
            </a:r>
            <a:r>
              <a:rPr lang="pt-BR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Aquela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a rainha dos baixinhos,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foi o maior piloto brasileiro (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5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foi o rei do futebol).</a:t>
            </a:r>
          </a:p>
        </p:txBody>
      </p:sp>
    </p:spTree>
    <p:extLst>
      <p:ext uri="{BB962C8B-B14F-4D97-AF65-F5344CB8AC3E}">
        <p14:creationId xmlns:p14="http://schemas.microsoft.com/office/powerpoint/2010/main" val="1667313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34C82-07E9-4467-9582-91F1686F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03385"/>
          </a:xfrm>
        </p:spPr>
        <p:txBody>
          <a:bodyPr/>
          <a:lstStyle/>
          <a:p>
            <a:pPr algn="ctr"/>
            <a:r>
              <a:rPr lang="pt-BR" b="1" dirty="0"/>
              <a:t>PRONOMES RELATIVOS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16E339-55C5-4EAF-BC60-06D36850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03385"/>
            <a:ext cx="9453489" cy="6154615"/>
          </a:xfrm>
        </p:spPr>
        <p:txBody>
          <a:bodyPr>
            <a:no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principais são: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que, o qual, cujo, quem, onde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Esses pronomes retomam substantivos antecedentes, coisa ou pessoa, e, por isso, têm função coesiva (retomar ou anunciar informação) e se prestam a evitar repetição. Podem ser variáveis, quando se flexionam (gênero, número), ou invariáveis, quando trazem forma única.</a:t>
            </a: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MASCULINOS: o qual (os quais); cujo (cujos); quanto (quantos).</a:t>
            </a:r>
          </a:p>
          <a:p>
            <a:pPr algn="just"/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FEMININOS: a qual (as quais); cuja (cujas); quanta (quantas).</a:t>
            </a:r>
          </a:p>
          <a:p>
            <a:pPr algn="just"/>
            <a:endParaRPr lang="pt-BR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Invariáveis: quem; que; onde.</a:t>
            </a:r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880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973F0-F9F8-4186-87A5-CF5B1A6A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474"/>
            <a:ext cx="9274002" cy="6759525"/>
          </a:xfrm>
        </p:spPr>
        <p:txBody>
          <a:bodyPr>
            <a:noAutofit/>
          </a:bodyPr>
          <a:lstStyle/>
          <a:p>
            <a:pPr algn="just"/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PRONOMES RELATIVOS: são ferramentas para evitar a repetição. Vejamos um parágrafo escrito num mundo sem pronomes relativos:</a:t>
            </a:r>
          </a:p>
          <a:p>
            <a:pPr algn="just"/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aluno foi aprovado. O aluno é primo de João. João tem mãe. A mãe de João é professora. A mãe do João foi professora da menina. A menina roubava livros. Os livros eram caríssimos. Os livros foram comprados numa loja distante. Havia muitos enfeites na loja. Perguntaram a várias pessoas a localização da loja. As pessoas não souberam responder.</a:t>
            </a:r>
          </a:p>
          <a:p>
            <a:pPr algn="just"/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Agora vamos usar pronomes relativos para retomar os antecedentes e evitar toda essa repetição de termos</a:t>
            </a:r>
            <a:r>
              <a:rPr lang="pt-BR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aluno que foi aprovado é primo de João, cuja mãe foi professora daquela menina que roubava livros, os quais eram caríssimos e foram compradas numa loja onde havia muitos enfeites. As pessoas a quem perguntaram localização da loja não souberam responder.</a:t>
            </a:r>
          </a:p>
        </p:txBody>
      </p:sp>
    </p:spTree>
    <p:extLst>
      <p:ext uri="{BB962C8B-B14F-4D97-AF65-F5344CB8AC3E}">
        <p14:creationId xmlns:p14="http://schemas.microsoft.com/office/powerpoint/2010/main" val="581950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C756F-0130-4ED1-89D1-467F1CC7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47114"/>
          </a:xfrm>
        </p:spPr>
        <p:txBody>
          <a:bodyPr/>
          <a:lstStyle/>
          <a:p>
            <a:pPr algn="ctr"/>
            <a:r>
              <a:rPr lang="pt-BR" b="1" dirty="0"/>
              <a:t>PRONOMES DE TRATAMENTO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84D17E-DBFC-4C24-9D58-F1ABDD904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7115"/>
            <a:ext cx="9274002" cy="5394248"/>
          </a:xfrm>
        </p:spPr>
        <p:txBody>
          <a:bodyPr>
            <a:noAutofit/>
          </a:bodyPr>
          <a:lstStyle/>
          <a:p>
            <a:pPr algn="just"/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pronomes de tratamento são formas de cortesia e reverência no trato com determinadas autoridades. A cobrança normalmente se baseia no pronome adequado a cada autoridade ou aspectos de concordância com as formas de tratamento.</a:t>
            </a:r>
          </a:p>
          <a:p>
            <a:pPr algn="just"/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Senhoria (V.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S.a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 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pessoas com um grau de prestígio maior. Usualmente, os empregamos em textos escritos, como: correspondências, ofícios, requerimentos etc.</a:t>
            </a:r>
          </a:p>
          <a:p>
            <a:pPr algn="just"/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Excelência (V.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Ex.a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Ex.as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 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grandes autoridades: Presidente da República, Senadores, Deputados, Embaixadores, Oficiais de Patente Superior à de Coronel, juízes de Direito, Ministros, Chefes de Poder.</a:t>
            </a:r>
          </a:p>
        </p:txBody>
      </p:sp>
    </p:spTree>
    <p:extLst>
      <p:ext uri="{BB962C8B-B14F-4D97-AF65-F5344CB8AC3E}">
        <p14:creationId xmlns:p14="http://schemas.microsoft.com/office/powerpoint/2010/main" val="3223013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CA5494-4CD5-4078-A654-0F0EE93B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9481625" cy="6857999"/>
          </a:xfrm>
        </p:spPr>
        <p:txBody>
          <a:bodyPr>
            <a:noAutofit/>
          </a:bodyPr>
          <a:lstStyle/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Excelência Reverendíssima (V.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Ex.a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Rev.ma 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Ex.as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Rev.mas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Bispos e arcebispos.</a:t>
            </a:r>
          </a:p>
          <a:p>
            <a:pPr algn="just"/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Eminência (V.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Em.a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Em.as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 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Cardeais.</a:t>
            </a:r>
          </a:p>
          <a:p>
            <a:pPr algn="just"/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Alteza (V. A. VV. AA.) 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autoridades monárquicas em geral, Príncipes, duques e arquiduques. Para Imperador, Rei ou Rainha, usa-se Vossa Majestade (V. M. VV. MM.)</a:t>
            </a: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Santidade (V.S. ) 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o Papa.</a:t>
            </a: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Reverendíssima (V. Rev.ma 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Rev.mas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Sacerdotes em geral.</a:t>
            </a: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Paternidade (V. P. VV. PP).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usado para Abades, superiores de conventos.</a:t>
            </a:r>
          </a:p>
          <a:p>
            <a:pPr algn="just"/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Vossa Magnificência (V.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Mag.a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V. </a:t>
            </a:r>
            <a:r>
              <a:rPr lang="pt-BR" sz="23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Mag.as</a:t>
            </a:r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 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usado para Reitores de universidades, acompanhado pelo vocativo: Magnífico Reitor.</a:t>
            </a:r>
          </a:p>
        </p:txBody>
      </p:sp>
    </p:spTree>
    <p:extLst>
      <p:ext uri="{BB962C8B-B14F-4D97-AF65-F5344CB8AC3E}">
        <p14:creationId xmlns:p14="http://schemas.microsoft.com/office/powerpoint/2010/main" val="363645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C36D499-9F89-48B1-88FA-DDB86418D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340" t="26246" r="9606" b="1467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82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638A6-DF26-4745-B98F-8973C083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16638"/>
          </a:xfrm>
        </p:spPr>
        <p:txBody>
          <a:bodyPr/>
          <a:lstStyle/>
          <a:p>
            <a:pPr algn="ctr"/>
            <a:r>
              <a:rPr lang="pt-BR" b="1" dirty="0"/>
              <a:t>PRONOMES PESSOAIS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7E3DEF-D865-4583-8745-482264E1D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1182"/>
            <a:ext cx="9274002" cy="6196817"/>
          </a:xfrm>
        </p:spPr>
        <p:txBody>
          <a:bodyPr>
            <a:no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pessoais retos (eu, tu, ele, nós, vós, eles) costumam substituir sujeito: 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João é magro&gt;Ele é magro.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pessoais oblíquos átonos (me, te, se, lhe, o, a, nos, vos) substituem complementos verbais: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o, a, os, as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substituem somente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objetos diretos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me, te, se, nos, vos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 ser objetos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diretos ou indiretos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depender da regência do verbo. Já o pronome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–lhe (s)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 função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somente de objeto indireto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Já lhe disse tudo. (disse a ele)</a:t>
            </a: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Informei-o de tudo. (informei a pessoa)</a:t>
            </a: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Você me agradou, mas não me convenceu. (agradou a mim)</a:t>
            </a:r>
          </a:p>
        </p:txBody>
      </p:sp>
    </p:spTree>
    <p:extLst>
      <p:ext uri="{BB962C8B-B14F-4D97-AF65-F5344CB8AC3E}">
        <p14:creationId xmlns:p14="http://schemas.microsoft.com/office/powerpoint/2010/main" val="1571220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6117176-D0F0-4EC4-9553-02D52490D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748" t="31764" r="11750" b="31348"/>
          <a:stretch/>
        </p:blipFill>
        <p:spPr>
          <a:xfrm>
            <a:off x="0" y="337625"/>
            <a:ext cx="9945858" cy="652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28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C987F-291B-421E-8C02-801ADE33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86" y="0"/>
            <a:ext cx="8596668" cy="644013"/>
          </a:xfrm>
        </p:spPr>
        <p:txBody>
          <a:bodyPr/>
          <a:lstStyle/>
          <a:p>
            <a:pPr algn="ctr"/>
            <a:r>
              <a:rPr lang="pt-BR" b="1" dirty="0"/>
              <a:t>COLOCAÇÃO PRONOMINAL</a:t>
            </a: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549F014-D4DA-4DA0-BC8C-1526F1372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72" t="27334" r="16525" b="17214"/>
          <a:stretch/>
        </p:blipFill>
        <p:spPr>
          <a:xfrm>
            <a:off x="0" y="644013"/>
            <a:ext cx="10825316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92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C146F-8CEE-498F-B927-E9514BCD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COLOCAÇÃO PRONOMINAL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51C97-B9B0-40CF-9136-01B8C640D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0589"/>
            <a:ext cx="9917723" cy="4697411"/>
          </a:xfrm>
        </p:spPr>
        <p:txBody>
          <a:bodyPr>
            <a:noAutofit/>
          </a:bodyPr>
          <a:lstStyle/>
          <a:p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 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verbo: 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Próclise (Hoje </a:t>
            </a:r>
            <a:r>
              <a:rPr lang="pt-B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 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escondi na mata)</a:t>
            </a:r>
          </a:p>
          <a:p>
            <a:endParaRPr lang="pt-BR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 </a:t>
            </a:r>
            <a:r>
              <a:rPr lang="pt-BR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depois 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verbo: </a:t>
            </a:r>
            <a:r>
              <a:rPr lang="pt-BR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Ênclise (Escondi-</a:t>
            </a:r>
            <a:r>
              <a:rPr lang="pt-BR" sz="3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 </a:t>
            </a:r>
            <a:r>
              <a:rPr lang="pt-BR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mata)</a:t>
            </a:r>
          </a:p>
          <a:p>
            <a:endParaRPr lang="pt-BR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 no </a:t>
            </a:r>
            <a:r>
              <a:rPr lang="pt-BR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meio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verbos: </a:t>
            </a:r>
            <a:r>
              <a:rPr lang="pt-BR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Mesóclise (Esconder-</a:t>
            </a:r>
            <a:r>
              <a:rPr lang="pt-BR" sz="3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lang="pt-BR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-ia na mata)</a:t>
            </a:r>
            <a:endParaRPr lang="pt-BR" sz="3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025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2A2A5-3605-4895-9024-B52FDCBD4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684" y="0"/>
            <a:ext cx="8596668" cy="647114"/>
          </a:xfrm>
        </p:spPr>
        <p:txBody>
          <a:bodyPr/>
          <a:lstStyle/>
          <a:p>
            <a:pPr algn="ctr"/>
            <a:r>
              <a:rPr lang="pt-BR" b="1" dirty="0"/>
              <a:t>COLOCAÇÃO PRONOMINAL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0D4ADCB-620B-4C5A-83AD-C21D45640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952" t="15735" r="9800" b="11415"/>
          <a:stretch/>
        </p:blipFill>
        <p:spPr>
          <a:xfrm>
            <a:off x="0" y="886264"/>
            <a:ext cx="10578690" cy="597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57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4F208B-9F37-4C5E-900E-11950DBD9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"/>
            <a:ext cx="9274002" cy="6858000"/>
          </a:xfrm>
        </p:spPr>
        <p:txBody>
          <a:bodyPr>
            <a:norm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Além disso, precisamos conhecer situações em que o pronome terá sua posição determinada por uma palavra anterior, que 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atrai (“puxa”) 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pronome para 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do verbo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Nesses casos, teremos próclise obrigatória. Essas são chamadas “palavras atrativas”.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PALAVRAS ATRATIVAS, exigindo pronome ANTES DO VERBO (próclise):</a:t>
            </a:r>
          </a:p>
          <a:p>
            <a:pPr algn="just"/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Conjunções Subordinativas (que, se, embora, quando, como);</a:t>
            </a:r>
          </a:p>
          <a:p>
            <a:pPr algn="just"/>
            <a:r>
              <a:rPr lang="pt-BR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Palavras Negativas (não, nunca, jamais, ninguém...);</a:t>
            </a:r>
          </a:p>
          <a:p>
            <a:pPr algn="just"/>
            <a:r>
              <a:rPr lang="pt-BR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Advérbios e Palavras denotativas (aqui, agora, talvez, já, mais, que, apenas, hoje, finalmente...);</a:t>
            </a:r>
          </a:p>
          <a:p>
            <a:pPr algn="just"/>
            <a:r>
              <a:rPr lang="pt-BR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Relativos (que, os quais, cujas.)</a:t>
            </a:r>
          </a:p>
          <a:p>
            <a:pPr algn="just"/>
            <a:r>
              <a:rPr lang="pt-BR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Indefinidos (nada, tudo, outras, certas, muitos)</a:t>
            </a:r>
          </a:p>
          <a:p>
            <a:pPr algn="just"/>
            <a:r>
              <a:rPr lang="pt-BR" sz="2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Pronomes Interrogativos (Quem, que, qual...)</a:t>
            </a:r>
            <a:endParaRPr lang="pt-BR" sz="2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4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093C7-71DB-4CF9-A230-F5B2DC4F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C43050-C0B0-4180-B552-56CF799DB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Quando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precisa de ajuda, os amigos verdadeiros aparecem.</a:t>
            </a:r>
          </a:p>
          <a:p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Embora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dedique à matéria, ainda tenho dificuldades.</a:t>
            </a:r>
          </a:p>
          <a:p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Não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diga nada.</a:t>
            </a:r>
          </a:p>
          <a:p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Prefiro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convidar.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6793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21E35-F18E-4AB4-A295-7CB1369B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pPr algn="ctr"/>
            <a:r>
              <a:rPr lang="pt-BR" b="1" dirty="0"/>
              <a:t>7. NUMERAL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B7DF12-3235-49AD-9062-1FAE80DB8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57" y="1930401"/>
            <a:ext cx="9340948" cy="4779888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numeral é mais um termo variável que se refere ao substantivo, indicando quantidade, ordem, sequência e posição.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sabemos, ter “papel adjetivo é referir-se a substantivo”. Então, podemos ter numerais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substantivos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adjetivos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Duas meninas chegaram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numeral adjetivo, pois acompanha um substantivo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 conheço as duas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(numeral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substantivo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pois substitui um substantivo).</a:t>
            </a:r>
          </a:p>
        </p:txBody>
      </p:sp>
    </p:spTree>
    <p:extLst>
      <p:ext uri="{BB962C8B-B14F-4D97-AF65-F5344CB8AC3E}">
        <p14:creationId xmlns:p14="http://schemas.microsoft.com/office/powerpoint/2010/main" val="2035821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5BB323-8596-4F81-9642-A817D7CDE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42" y="309489"/>
            <a:ext cx="9161460" cy="6400800"/>
          </a:xfrm>
        </p:spPr>
        <p:txBody>
          <a:bodyPr>
            <a:noAutofit/>
          </a:bodyPr>
          <a:lstStyle/>
          <a:p>
            <a:pPr algn="ctr"/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numerais são classificados em:</a:t>
            </a:r>
          </a:p>
          <a:p>
            <a:pPr algn="ctr"/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Ordinais: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primeiro lugar, segunda comunhão, terceiras intenções... letra a, b, c...septuagésimo quarto, sexagésimo quinto...</a:t>
            </a:r>
          </a:p>
          <a:p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Cardinais: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cão, duas alunas, três pessoas...</a:t>
            </a:r>
          </a:p>
          <a:p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Fracionários: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terço, dois terços, quatro vinte avos...</a:t>
            </a:r>
          </a:p>
          <a:p>
            <a:r>
              <a:rPr lang="pt-BR" sz="23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Multiplicativos: 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dobro, o triplo, cabine dupla, duplo </a:t>
            </a:r>
            <a:r>
              <a:rPr lang="pt-BR" sz="23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carpado</a:t>
            </a:r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OBS: “último, penúltimo, antepenúltimo, derradeiro, posterior, anterior” são considerados meros adjetivos, não numerais.</a:t>
            </a:r>
          </a:p>
          <a:p>
            <a:endParaRPr lang="pt-BR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fim, acrescento que “ambos” e “zero” são considerados numerais.</a:t>
            </a:r>
          </a:p>
        </p:txBody>
      </p:sp>
    </p:spTree>
    <p:extLst>
      <p:ext uri="{BB962C8B-B14F-4D97-AF65-F5344CB8AC3E}">
        <p14:creationId xmlns:p14="http://schemas.microsoft.com/office/powerpoint/2010/main" val="862024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E9777-8EEB-4E38-91E3-9CC2C64E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8. </a:t>
            </a:r>
            <a:r>
              <a:rPr lang="pt-BR" b="1" dirty="0"/>
              <a:t>INTERJEIÇÃO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9C89A1-4099-480A-B1A0-65B18CED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667348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Interjeição é classe gramatical invariável que expressa emoções e estados de espírito.</a:t>
            </a: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Servem também para fazer convencimento e normalmente sintetizam uma frase exclamatória (Puxa!) ou apelativa (Cuidado!):</a:t>
            </a:r>
          </a:p>
          <a:p>
            <a:pPr algn="just"/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5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Olá! Oba! Nossa! Cruzes! Ai! Ui! Ah! Putz! Oxalá! Tomara! Pudera! Tchau!</a:t>
            </a:r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661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1E76A-3038-4BAE-85D1-35845E4F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INTERJEIÇÃO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D8BEEB-D453-4468-8E1E-856883FF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160589"/>
            <a:ext cx="9453489" cy="4697411"/>
          </a:xfrm>
        </p:spPr>
        <p:txBody>
          <a:bodyPr>
            <a:normAutofit/>
          </a:bodyPr>
          <a:lstStyle/>
          <a:p>
            <a:pPr algn="just"/>
            <a:r>
              <a:rPr lang="pt-BR" sz="25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Psiu, venha aqui! (convite)</a:t>
            </a:r>
          </a:p>
          <a:p>
            <a:pPr algn="just"/>
            <a:r>
              <a:rPr lang="pt-BR" sz="25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Psiu, faça silêncio!(ordem)</a:t>
            </a:r>
          </a:p>
          <a:p>
            <a:pPr algn="just"/>
            <a:r>
              <a:rPr lang="pt-BR" sz="25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Puxa! Não passei. (lamentação)</a:t>
            </a:r>
          </a:p>
          <a:p>
            <a:pPr algn="just"/>
            <a:r>
              <a:rPr lang="pt-BR" sz="25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Puxa! Passou com 3 meses de estudo. (admiração)</a:t>
            </a:r>
          </a:p>
          <a:p>
            <a:pPr algn="just"/>
            <a:r>
              <a:rPr lang="pt-BR" sz="25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Ufa! (alívio/cansaço)</a:t>
            </a:r>
          </a:p>
          <a:p>
            <a:pPr algn="just"/>
            <a:endParaRPr lang="pt-BR" sz="25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lista é infinita, então é preciso verificar no contexto qual emoção é transmitida pela interjeição.</a:t>
            </a:r>
          </a:p>
        </p:txBody>
      </p:sp>
    </p:spTree>
    <p:extLst>
      <p:ext uri="{BB962C8B-B14F-4D97-AF65-F5344CB8AC3E}">
        <p14:creationId xmlns:p14="http://schemas.microsoft.com/office/powerpoint/2010/main" val="2350764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A7F99-C057-4DDF-A232-D7E6928D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9. </a:t>
            </a:r>
            <a:r>
              <a:rPr lang="pt-BR" b="1" dirty="0"/>
              <a:t>CONJUNÇÕES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876C54-16DC-465D-A88A-2B9FBEEA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42" y="2160589"/>
            <a:ext cx="9161460" cy="4697411"/>
          </a:xfrm>
        </p:spPr>
        <p:txBody>
          <a:bodyPr>
            <a:normAutofit/>
          </a:bodyPr>
          <a:lstStyle/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Assim como as preposições, as conjunções são conectores. Ligam orações diferentes ou termos de uma mesma oração. Também podem ligar parágrafos e traçar relações lógicas entre eles.</a:t>
            </a:r>
          </a:p>
          <a:p>
            <a:pPr algn="just"/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 ligam </a:t>
            </a:r>
            <a:r>
              <a:rPr lang="pt-BR" sz="2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orações de sentido completo, sintaticamente independentes, são chamadas coordenativas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Se ligarem orações que têm ligação de </a:t>
            </a:r>
            <a:r>
              <a:rPr lang="pt-BR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dependência</a:t>
            </a: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sintática, são chamadas </a:t>
            </a:r>
            <a:r>
              <a:rPr lang="pt-BR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subordinativas</a:t>
            </a:r>
            <a:r>
              <a:rPr lang="pt-BR" sz="25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65275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286</TotalTime>
  <Words>3566</Words>
  <Application>Microsoft Office PowerPoint</Application>
  <PresentationFormat>Widescreen</PresentationFormat>
  <Paragraphs>236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Trebuchet MS</vt:lpstr>
      <vt:lpstr>Wingdings 3</vt:lpstr>
      <vt:lpstr>Facetado</vt:lpstr>
      <vt:lpstr>MORFOLOGIA</vt:lpstr>
      <vt:lpstr>CLASSES DAS PALAVRAS</vt:lpstr>
      <vt:lpstr>Apresentação do PowerPoint</vt:lpstr>
      <vt:lpstr>1. SUBSTANTIVO</vt:lpstr>
      <vt:lpstr>Classificação dos substantivos:</vt:lpstr>
      <vt:lpstr>Apresentação do PowerPoint</vt:lpstr>
      <vt:lpstr>2. ADJETIVO</vt:lpstr>
      <vt:lpstr>3. ADVÉRBIO</vt:lpstr>
      <vt:lpstr>Apresentação do PowerPoint</vt:lpstr>
      <vt:lpstr>Apresentação do PowerPoint</vt:lpstr>
      <vt:lpstr>4. ARTIGO</vt:lpstr>
      <vt:lpstr>Apresentação do PowerPoint</vt:lpstr>
      <vt:lpstr>5. PREPOSIÇÕES</vt:lpstr>
      <vt:lpstr>Contração das preposições:</vt:lpstr>
      <vt:lpstr>Apresentação do PowerPoint</vt:lpstr>
      <vt:lpstr>6. PRONOMES</vt:lpstr>
      <vt:lpstr>Apresentação do PowerPoint</vt:lpstr>
      <vt:lpstr>Apresentação do PowerPoint</vt:lpstr>
      <vt:lpstr>PRONOMES DEMONSTRATIVOS</vt:lpstr>
      <vt:lpstr>Apresentação do PowerPoint</vt:lpstr>
      <vt:lpstr>Apresentação do PowerPoint</vt:lpstr>
      <vt:lpstr>Apresentação do PowerPoint</vt:lpstr>
      <vt:lpstr>APROFUNDANDO </vt:lpstr>
      <vt:lpstr>PRONOMES RELATIVOS</vt:lpstr>
      <vt:lpstr>Apresentação do PowerPoint</vt:lpstr>
      <vt:lpstr>PRONOMES DE TRATAMENTO</vt:lpstr>
      <vt:lpstr>Apresentação do PowerPoint</vt:lpstr>
      <vt:lpstr>Apresentação do PowerPoint</vt:lpstr>
      <vt:lpstr>PRONOMES PESSOAIS</vt:lpstr>
      <vt:lpstr>Apresentação do PowerPoint</vt:lpstr>
      <vt:lpstr>COLOCAÇÃO PRONOMINAL</vt:lpstr>
      <vt:lpstr>COLOCAÇÃO PRONOMINAL</vt:lpstr>
      <vt:lpstr>COLOCAÇÃO PRONOMINAL</vt:lpstr>
      <vt:lpstr>Apresentação do PowerPoint</vt:lpstr>
      <vt:lpstr>EXEMPLOS</vt:lpstr>
      <vt:lpstr>7. NUMERAL</vt:lpstr>
      <vt:lpstr>Apresentação do PowerPoint</vt:lpstr>
      <vt:lpstr>8. INTERJEIÇÃO</vt:lpstr>
      <vt:lpstr>INTERJEIÇÃO</vt:lpstr>
      <vt:lpstr>9. CONJUNÇÕES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MORFOLOGIA</dc:title>
  <dc:creator>Iagatan</dc:creator>
  <cp:lastModifiedBy>Iagatan</cp:lastModifiedBy>
  <cp:revision>16</cp:revision>
  <dcterms:created xsi:type="dcterms:W3CDTF">2019-04-15T21:43:30Z</dcterms:created>
  <dcterms:modified xsi:type="dcterms:W3CDTF">2019-04-21T18:37:57Z</dcterms:modified>
</cp:coreProperties>
</file>